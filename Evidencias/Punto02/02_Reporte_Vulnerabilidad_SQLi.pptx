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
  </p:notesMasterIdLst>
  <p:sldIdLst>
    <p:sldId id="256" r:id="rId2"/>
    <p:sldId id="257" r:id="rId3"/>
    <p:sldId id="258" r:id="rId4"/>
    <p:sldId id="259" r:id="rId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5" d="100"/>
          <a:sy n="85" d="100"/>
        </p:scale>
        <p:origin x="562"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65683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457200"/>
          </a:xfrm>
          <a:prstGeom prst="rect">
            <a:avLst/>
          </a:prstGeom>
          <a:solidFill>
            <a:srgbClr val="262626"/>
          </a:solidFill>
          <a:ln w="12700">
            <a:solidFill>
              <a:srgbClr val="262626"/>
            </a:solidFill>
            <a:prstDash val="solid"/>
          </a:ln>
        </p:spPr>
      </p:sp>
      <p:sp>
        <p:nvSpPr>
          <p:cNvPr id="3" name="Text 1"/>
          <p:cNvSpPr/>
          <p:nvPr/>
        </p:nvSpPr>
        <p:spPr>
          <a:xfrm>
            <a:off x="457200" y="0"/>
            <a:ext cx="8229600" cy="457200"/>
          </a:xfrm>
          <a:prstGeom prst="rect">
            <a:avLst/>
          </a:prstGeom>
          <a:noFill/>
          <a:ln/>
        </p:spPr>
        <p:txBody>
          <a:bodyPr wrap="square" lIns="0" tIns="0" rIns="0" bIns="0" rtlCol="0" anchor="ctr"/>
          <a:lstStyle/>
          <a:p>
            <a:pPr marL="0" indent="0" algn="l">
              <a:buNone/>
            </a:pPr>
            <a:r>
              <a:rPr lang="en-US" sz="1100" i="1" dirty="0">
                <a:solidFill>
                  <a:srgbClr val="FFFFFF"/>
                </a:solidFill>
                <a:latin typeface="Calibri" pitchFamily="34" charset="0"/>
                <a:ea typeface="Calibri" pitchFamily="34" charset="-122"/>
                <a:cs typeface="Calibri" pitchFamily="34" charset="-120"/>
              </a:rPr>
              <a:t>VULN-001 · SQL Injection en Autenticación · OWASP Juice Shop</a:t>
            </a:r>
            <a:endParaRPr lang="en-US" sz="1100" dirty="0"/>
          </a:p>
        </p:txBody>
      </p:sp>
      <p:sp>
        <p:nvSpPr>
          <p:cNvPr id="4" name="Text 2"/>
          <p:cNvSpPr/>
          <p:nvPr/>
        </p:nvSpPr>
        <p:spPr>
          <a:xfrm>
            <a:off x="10789920" y="0"/>
            <a:ext cx="914400" cy="457200"/>
          </a:xfrm>
          <a:prstGeom prst="rect">
            <a:avLst/>
          </a:prstGeom>
          <a:noFill/>
          <a:ln/>
        </p:spPr>
        <p:txBody>
          <a:bodyPr wrap="square" lIns="0" tIns="0" rIns="0" bIns="0" rtlCol="0" anchor="ctr"/>
          <a:lstStyle/>
          <a:p>
            <a:pPr marL="0" indent="0" algn="r">
              <a:buNone/>
            </a:pPr>
            <a:r>
              <a:rPr lang="en-US" sz="1100" dirty="0">
                <a:solidFill>
                  <a:srgbClr val="FFFFFF"/>
                </a:solidFill>
                <a:latin typeface="Calibri" pitchFamily="34" charset="0"/>
                <a:ea typeface="Calibri" pitchFamily="34" charset="-122"/>
                <a:cs typeface="Calibri" pitchFamily="34" charset="-120"/>
              </a:rPr>
              <a:t>1 / 4</a:t>
            </a:r>
            <a:endParaRPr lang="en-US" sz="1100" dirty="0"/>
          </a:p>
        </p:txBody>
      </p:sp>
      <p:sp>
        <p:nvSpPr>
          <p:cNvPr id="5" name="Text 3"/>
          <p:cNvSpPr/>
          <p:nvPr/>
        </p:nvSpPr>
        <p:spPr>
          <a:xfrm>
            <a:off x="457200" y="6537960"/>
            <a:ext cx="11247120" cy="274320"/>
          </a:xfrm>
          <a:prstGeom prst="rect">
            <a:avLst/>
          </a:prstGeom>
          <a:noFill/>
          <a:ln/>
        </p:spPr>
        <p:txBody>
          <a:bodyPr wrap="square" lIns="0" tIns="0" rIns="0" bIns="0" rtlCol="0" anchor="ctr"/>
          <a:lstStyle/>
          <a:p>
            <a:pPr marL="0" indent="0" algn="ctr">
              <a:buNone/>
            </a:pPr>
            <a:r>
              <a:rPr lang="en-US" sz="900" dirty="0">
                <a:solidFill>
                  <a:srgbClr val="595959"/>
                </a:solidFill>
                <a:latin typeface="Calibri" pitchFamily="34" charset="0"/>
                <a:ea typeface="Calibri" pitchFamily="34" charset="-122"/>
                <a:cs typeface="Calibri" pitchFamily="34" charset="-120"/>
              </a:rPr>
              <a:t>SI3006 — </a:t>
            </a:r>
            <a:r>
              <a:rPr lang="en-US" sz="900" dirty="0" err="1">
                <a:solidFill>
                  <a:srgbClr val="595959"/>
                </a:solidFill>
                <a:latin typeface="Calibri" pitchFamily="34" charset="0"/>
                <a:ea typeface="Calibri" pitchFamily="34" charset="-122"/>
                <a:cs typeface="Calibri" pitchFamily="34" charset="-120"/>
              </a:rPr>
              <a:t>Ciberseguridad</a:t>
            </a:r>
            <a:r>
              <a:rPr lang="en-US" sz="900" dirty="0">
                <a:solidFill>
                  <a:srgbClr val="595959"/>
                </a:solidFill>
                <a:latin typeface="Calibri" pitchFamily="34" charset="0"/>
                <a:ea typeface="Calibri" pitchFamily="34" charset="-122"/>
                <a:cs typeface="Calibri" pitchFamily="34" charset="-120"/>
              </a:rPr>
              <a:t> · Universidad EAFIT · Mayo 2026 - </a:t>
            </a:r>
            <a:r>
              <a:rPr lang="en-US" sz="900" dirty="0" err="1">
                <a:solidFill>
                  <a:srgbClr val="595959"/>
                </a:solidFill>
                <a:latin typeface="Calibri" pitchFamily="34" charset="0"/>
                <a:ea typeface="Calibri" pitchFamily="34" charset="-122"/>
                <a:cs typeface="Calibri" pitchFamily="34" charset="-120"/>
              </a:rPr>
              <a:t>Karmaland</a:t>
            </a:r>
            <a:endParaRPr lang="en-US" sz="900" dirty="0"/>
          </a:p>
        </p:txBody>
      </p:sp>
      <p:sp>
        <p:nvSpPr>
          <p:cNvPr id="6" name="Text 4"/>
          <p:cNvSpPr/>
          <p:nvPr/>
        </p:nvSpPr>
        <p:spPr>
          <a:xfrm>
            <a:off x="457200" y="640080"/>
            <a:ext cx="11247120" cy="548640"/>
          </a:xfrm>
          <a:prstGeom prst="rect">
            <a:avLst/>
          </a:prstGeom>
          <a:noFill/>
          <a:ln/>
        </p:spPr>
        <p:txBody>
          <a:bodyPr wrap="square" lIns="0" tIns="0" rIns="0" bIns="0" rtlCol="0" anchor="ctr"/>
          <a:lstStyle/>
          <a:p>
            <a:pPr marL="0" indent="0" algn="l">
              <a:buNone/>
            </a:pPr>
            <a:r>
              <a:rPr lang="en-US" sz="2800" b="1" dirty="0">
                <a:solidFill>
                  <a:srgbClr val="1F1F1F"/>
                </a:solidFill>
                <a:latin typeface="Calibri" pitchFamily="34" charset="0"/>
                <a:ea typeface="Calibri" pitchFamily="34" charset="-122"/>
                <a:cs typeface="Calibri" pitchFamily="34" charset="-120"/>
              </a:rPr>
              <a:t>Identificación del Hallazgo</a:t>
            </a:r>
            <a:endParaRPr lang="en-US" sz="2800" dirty="0"/>
          </a:p>
        </p:txBody>
      </p:sp>
      <p:sp>
        <p:nvSpPr>
          <p:cNvPr id="7" name="Shape 5"/>
          <p:cNvSpPr/>
          <p:nvPr/>
        </p:nvSpPr>
        <p:spPr>
          <a:xfrm>
            <a:off x="457200" y="1188720"/>
            <a:ext cx="11247120" cy="0"/>
          </a:xfrm>
          <a:prstGeom prst="line">
            <a:avLst/>
          </a:prstGeom>
          <a:noFill/>
          <a:ln w="9525">
            <a:solidFill>
              <a:srgbClr val="BFBFBF"/>
            </a:solidFill>
            <a:prstDash val="solid"/>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554480"/>
          <a:ext cx="7132320" cy="2468880"/>
        </p:xfrm>
        <a:graphic>
          <a:graphicData uri="http://schemas.openxmlformats.org/drawingml/2006/table">
            <a:tbl>
              <a:tblPr/>
              <a:tblGrid>
                <a:gridCol w="1828800">
                  <a:extLst>
                    <a:ext uri="{9D8B030D-6E8A-4147-A177-3AD203B41FA5}">
                      <a16:colId xmlns:a16="http://schemas.microsoft.com/office/drawing/2014/main" val="20000"/>
                    </a:ext>
                  </a:extLst>
                </a:gridCol>
                <a:gridCol w="5303520">
                  <a:extLst>
                    <a:ext uri="{9D8B030D-6E8A-4147-A177-3AD203B41FA5}">
                      <a16:colId xmlns:a16="http://schemas.microsoft.com/office/drawing/2014/main" val="20001"/>
                    </a:ext>
                  </a:extLst>
                </a:gridCol>
              </a:tblGrid>
              <a:tr h="411480">
                <a:tc>
                  <a:txBody>
                    <a:bodyPr/>
                    <a:lstStyle/>
                    <a:p>
                      <a:pPr marL="0" indent="0" algn="l">
                        <a:buNone/>
                      </a:pPr>
                      <a:r>
                        <a:rPr lang="en-US" sz="1300" b="1" dirty="0">
                          <a:solidFill>
                            <a:srgbClr val="1F1F1F"/>
                          </a:solidFill>
                          <a:latin typeface="Calibri" pitchFamily="34" charset="0"/>
                          <a:ea typeface="Calibri" pitchFamily="34" charset="-122"/>
                          <a:cs typeface="Calibri" pitchFamily="34" charset="-120"/>
                        </a:rPr>
                        <a:t>Nombre</a:t>
                      </a:r>
                      <a:endParaRPr lang="en-US" sz="130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SQL Injection en autenticación (Authentication Bypass)</a:t>
                      </a:r>
                      <a:endParaRPr lang="en-US" sz="130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0"/>
                  </a:ext>
                </a:extLst>
              </a:tr>
              <a:tr h="411480">
                <a:tc>
                  <a:txBody>
                    <a:bodyPr/>
                    <a:lstStyle/>
                    <a:p>
                      <a:pPr marL="0" indent="0" algn="l">
                        <a:buNone/>
                      </a:pPr>
                      <a:r>
                        <a:rPr lang="en-US" sz="1300" b="1" dirty="0">
                          <a:solidFill>
                            <a:srgbClr val="1F1F1F"/>
                          </a:solidFill>
                          <a:latin typeface="Calibri" pitchFamily="34" charset="0"/>
                          <a:ea typeface="Calibri" pitchFamily="34" charset="-122"/>
                          <a:cs typeface="Calibri" pitchFamily="34" charset="-120"/>
                        </a:rPr>
                        <a:t>Endpoint</a:t>
                      </a:r>
                      <a:endParaRPr lang="en-US" sz="130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marL="0" indent="0" algn="l">
                        <a:buNone/>
                      </a:pPr>
                      <a:r>
                        <a:rPr lang="en-US" sz="1300" dirty="0">
                          <a:solidFill>
                            <a:srgbClr val="1F1F1F"/>
                          </a:solidFill>
                          <a:latin typeface="Consolas" pitchFamily="34" charset="0"/>
                          <a:ea typeface="Consolas" pitchFamily="34" charset="-122"/>
                          <a:cs typeface="Consolas" pitchFamily="34" charset="-120"/>
                        </a:rPr>
                        <a:t>POST /rest/user/login</a:t>
                      </a:r>
                      <a:endParaRPr lang="en-US" sz="1300" dirty="0">
                        <a:latin typeface="Consolas" charset="0"/>
                        <a:ea typeface="Consolas" charset="0"/>
                        <a:cs typeface="Consolas"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411480">
                <a:tc>
                  <a:txBody>
                    <a:bodyPr/>
                    <a:lstStyle/>
                    <a:p>
                      <a:pPr marL="0" indent="0" algn="l">
                        <a:buNone/>
                      </a:pPr>
                      <a:r>
                        <a:rPr lang="en-US" sz="1300" b="1" dirty="0">
                          <a:solidFill>
                            <a:srgbClr val="1F1F1F"/>
                          </a:solidFill>
                          <a:latin typeface="Calibri" pitchFamily="34" charset="0"/>
                          <a:ea typeface="Calibri" pitchFamily="34" charset="-122"/>
                          <a:cs typeface="Calibri" pitchFamily="34" charset="-120"/>
                        </a:rPr>
                        <a:t>Archivo</a:t>
                      </a:r>
                      <a:endParaRPr lang="en-US" sz="130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marL="0" indent="0" algn="l">
                        <a:buNone/>
                      </a:pPr>
                      <a:r>
                        <a:rPr lang="en-US" sz="1300" dirty="0">
                          <a:solidFill>
                            <a:srgbClr val="1F1F1F"/>
                          </a:solidFill>
                          <a:latin typeface="Consolas" pitchFamily="34" charset="0"/>
                          <a:ea typeface="Consolas" pitchFamily="34" charset="-122"/>
                          <a:cs typeface="Consolas" pitchFamily="34" charset="-120"/>
                        </a:rPr>
                        <a:t>routes/login.ts</a:t>
                      </a:r>
                      <a:endParaRPr lang="en-US" sz="1300" dirty="0">
                        <a:latin typeface="Consolas" charset="0"/>
                        <a:ea typeface="Consolas" charset="0"/>
                        <a:cs typeface="Consolas"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411480">
                <a:tc>
                  <a:txBody>
                    <a:bodyPr/>
                    <a:lstStyle/>
                    <a:p>
                      <a:pPr marL="0" indent="0" algn="l">
                        <a:buNone/>
                      </a:pPr>
                      <a:r>
                        <a:rPr lang="en-US" sz="1300" b="1" dirty="0">
                          <a:solidFill>
                            <a:srgbClr val="1F1F1F"/>
                          </a:solidFill>
                          <a:latin typeface="Calibri" pitchFamily="34" charset="0"/>
                          <a:ea typeface="Calibri" pitchFamily="34" charset="-122"/>
                          <a:cs typeface="Calibri" pitchFamily="34" charset="-120"/>
                        </a:rPr>
                        <a:t>OWASP Top 10</a:t>
                      </a:r>
                      <a:endParaRPr lang="en-US" sz="130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A03:2021 — Injection</a:t>
                      </a:r>
                      <a:endParaRPr lang="en-US" sz="130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r h="411480">
                <a:tc>
                  <a:txBody>
                    <a:bodyPr/>
                    <a:lstStyle/>
                    <a:p>
                      <a:pPr marL="0" indent="0" algn="l">
                        <a:buNone/>
                      </a:pPr>
                      <a:r>
                        <a:rPr lang="en-US" sz="1300" b="1" dirty="0">
                          <a:solidFill>
                            <a:srgbClr val="1F1F1F"/>
                          </a:solidFill>
                          <a:latin typeface="Calibri" pitchFamily="34" charset="0"/>
                          <a:ea typeface="Calibri" pitchFamily="34" charset="-122"/>
                          <a:cs typeface="Calibri" pitchFamily="34" charset="-120"/>
                        </a:rPr>
                        <a:t>CWE</a:t>
                      </a:r>
                      <a:endParaRPr lang="en-US" sz="130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CWE-89 (Improper Neutralization in SQL)</a:t>
                      </a:r>
                      <a:endParaRPr lang="en-US" sz="130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4"/>
                  </a:ext>
                </a:extLst>
              </a:tr>
              <a:tr h="411480">
                <a:tc>
                  <a:txBody>
                    <a:bodyPr/>
                    <a:lstStyle/>
                    <a:p>
                      <a:pPr marL="0" indent="0" algn="l">
                        <a:buNone/>
                      </a:pPr>
                      <a:r>
                        <a:rPr lang="en-US" sz="1300" b="1" dirty="0">
                          <a:solidFill>
                            <a:srgbClr val="1F1F1F"/>
                          </a:solidFill>
                          <a:latin typeface="Calibri" pitchFamily="34" charset="0"/>
                          <a:ea typeface="Calibri" pitchFamily="34" charset="-122"/>
                          <a:cs typeface="Calibri" pitchFamily="34" charset="-120"/>
                        </a:rPr>
                        <a:t>Tipo de prueba</a:t>
                      </a:r>
                      <a:endParaRPr lang="en-US" sz="130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Caja blanca (White Box)</a:t>
                      </a:r>
                      <a:endParaRPr lang="en-US" sz="130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9" name="Shape 6"/>
          <p:cNvSpPr/>
          <p:nvPr/>
        </p:nvSpPr>
        <p:spPr>
          <a:xfrm>
            <a:off x="7955280" y="1554480"/>
            <a:ext cx="3749040" cy="2468880"/>
          </a:xfrm>
          <a:prstGeom prst="rect">
            <a:avLst/>
          </a:prstGeom>
          <a:solidFill>
            <a:srgbClr val="F2F2F2"/>
          </a:solidFill>
          <a:ln w="9525">
            <a:solidFill>
              <a:srgbClr val="BFBFBF"/>
            </a:solidFill>
            <a:prstDash val="solid"/>
          </a:ln>
        </p:spPr>
      </p:sp>
      <p:sp>
        <p:nvSpPr>
          <p:cNvPr id="10" name="Text 7"/>
          <p:cNvSpPr/>
          <p:nvPr/>
        </p:nvSpPr>
        <p:spPr>
          <a:xfrm>
            <a:off x="7955280" y="1691640"/>
            <a:ext cx="3749040" cy="320040"/>
          </a:xfrm>
          <a:prstGeom prst="rect">
            <a:avLst/>
          </a:prstGeom>
          <a:noFill/>
          <a:ln/>
        </p:spPr>
        <p:txBody>
          <a:bodyPr wrap="square" lIns="0" tIns="0" rIns="0" bIns="0" rtlCol="0" anchor="ctr"/>
          <a:lstStyle/>
          <a:p>
            <a:pPr marL="0" indent="0" algn="ctr">
              <a:buNone/>
            </a:pPr>
            <a:r>
              <a:rPr lang="en-US" sz="1100" b="1" kern="0" spc="400" dirty="0">
                <a:solidFill>
                  <a:srgbClr val="595959"/>
                </a:solidFill>
                <a:latin typeface="Calibri" pitchFamily="34" charset="0"/>
                <a:ea typeface="Calibri" pitchFamily="34" charset="-122"/>
                <a:cs typeface="Calibri" pitchFamily="34" charset="-120"/>
              </a:rPr>
              <a:t>SEVERIDAD</a:t>
            </a:r>
            <a:endParaRPr lang="en-US" sz="1100" dirty="0"/>
          </a:p>
        </p:txBody>
      </p:sp>
      <p:sp>
        <p:nvSpPr>
          <p:cNvPr id="11" name="Text 8"/>
          <p:cNvSpPr/>
          <p:nvPr/>
        </p:nvSpPr>
        <p:spPr>
          <a:xfrm>
            <a:off x="7955280" y="2057400"/>
            <a:ext cx="3749040" cy="731520"/>
          </a:xfrm>
          <a:prstGeom prst="rect">
            <a:avLst/>
          </a:prstGeom>
          <a:noFill/>
          <a:ln/>
        </p:spPr>
        <p:txBody>
          <a:bodyPr wrap="square" lIns="0" tIns="0" rIns="0" bIns="0" rtlCol="0" anchor="ctr"/>
          <a:lstStyle/>
          <a:p>
            <a:pPr marL="0" indent="0" algn="ctr">
              <a:buNone/>
            </a:pPr>
            <a:r>
              <a:rPr lang="en-US" sz="3800" b="1" dirty="0">
                <a:solidFill>
                  <a:srgbClr val="8B0000"/>
                </a:solidFill>
                <a:latin typeface="Calibri" pitchFamily="34" charset="0"/>
                <a:ea typeface="Calibri" pitchFamily="34" charset="-122"/>
                <a:cs typeface="Calibri" pitchFamily="34" charset="-120"/>
              </a:rPr>
              <a:t>CRÍTICA</a:t>
            </a:r>
            <a:endParaRPr lang="en-US" sz="3800" dirty="0"/>
          </a:p>
        </p:txBody>
      </p:sp>
      <p:sp>
        <p:nvSpPr>
          <p:cNvPr id="12" name="Text 9"/>
          <p:cNvSpPr/>
          <p:nvPr/>
        </p:nvSpPr>
        <p:spPr>
          <a:xfrm>
            <a:off x="7955280" y="2834640"/>
            <a:ext cx="3749040" cy="274320"/>
          </a:xfrm>
          <a:prstGeom prst="rect">
            <a:avLst/>
          </a:prstGeom>
          <a:noFill/>
          <a:ln/>
        </p:spPr>
        <p:txBody>
          <a:bodyPr wrap="square" lIns="0" tIns="0" rIns="0" bIns="0" rtlCol="0" anchor="ctr"/>
          <a:lstStyle/>
          <a:p>
            <a:pPr marL="0" indent="0" algn="ctr">
              <a:buNone/>
            </a:pPr>
            <a:r>
              <a:rPr lang="en-US" sz="1100" dirty="0">
                <a:solidFill>
                  <a:srgbClr val="595959"/>
                </a:solidFill>
                <a:latin typeface="Calibri" pitchFamily="34" charset="0"/>
                <a:ea typeface="Calibri" pitchFamily="34" charset="-122"/>
                <a:cs typeface="Calibri" pitchFamily="34" charset="-120"/>
              </a:rPr>
              <a:t>CVSS v3.1</a:t>
            </a:r>
            <a:endParaRPr lang="en-US" sz="1100" dirty="0"/>
          </a:p>
        </p:txBody>
      </p:sp>
      <p:sp>
        <p:nvSpPr>
          <p:cNvPr id="13" name="Text 10"/>
          <p:cNvSpPr/>
          <p:nvPr/>
        </p:nvSpPr>
        <p:spPr>
          <a:xfrm>
            <a:off x="7955280" y="3108960"/>
            <a:ext cx="3749040" cy="457200"/>
          </a:xfrm>
          <a:prstGeom prst="rect">
            <a:avLst/>
          </a:prstGeom>
          <a:noFill/>
          <a:ln/>
        </p:spPr>
        <p:txBody>
          <a:bodyPr wrap="square" lIns="0" tIns="0" rIns="0" bIns="0" rtlCol="0" anchor="ctr"/>
          <a:lstStyle/>
          <a:p>
            <a:pPr marL="0" indent="0" algn="ctr">
              <a:buNone/>
            </a:pPr>
            <a:r>
              <a:rPr lang="en-US" sz="2600" b="1" dirty="0">
                <a:solidFill>
                  <a:srgbClr val="1F1F1F"/>
                </a:solidFill>
                <a:latin typeface="Calibri" pitchFamily="34" charset="0"/>
                <a:ea typeface="Calibri" pitchFamily="34" charset="-122"/>
                <a:cs typeface="Calibri" pitchFamily="34" charset="-120"/>
              </a:rPr>
              <a:t>9.8 / 10</a:t>
            </a:r>
            <a:endParaRPr lang="en-US" sz="2600" dirty="0"/>
          </a:p>
        </p:txBody>
      </p:sp>
      <p:sp>
        <p:nvSpPr>
          <p:cNvPr id="14" name="Text 11"/>
          <p:cNvSpPr/>
          <p:nvPr/>
        </p:nvSpPr>
        <p:spPr>
          <a:xfrm>
            <a:off x="7955280" y="3611880"/>
            <a:ext cx="3749040" cy="320040"/>
          </a:xfrm>
          <a:prstGeom prst="rect">
            <a:avLst/>
          </a:prstGeom>
          <a:noFill/>
          <a:ln/>
        </p:spPr>
        <p:txBody>
          <a:bodyPr wrap="square" lIns="0" tIns="0" rIns="0" bIns="0" rtlCol="0" anchor="ctr"/>
          <a:lstStyle/>
          <a:p>
            <a:pPr marL="0" indent="0" algn="ctr">
              <a:buNone/>
            </a:pPr>
            <a:r>
              <a:rPr lang="en-US" sz="1000" dirty="0">
                <a:solidFill>
                  <a:srgbClr val="595959"/>
                </a:solidFill>
                <a:latin typeface="Consolas" pitchFamily="34" charset="0"/>
                <a:ea typeface="Consolas" pitchFamily="34" charset="-122"/>
                <a:cs typeface="Consolas" pitchFamily="34" charset="-120"/>
              </a:rPr>
              <a:t>AV:N / AC:L / PR:N / UI:N</a:t>
            </a:r>
            <a:endParaRPr lang="en-US" sz="1000" dirty="0"/>
          </a:p>
        </p:txBody>
      </p:sp>
      <p:sp>
        <p:nvSpPr>
          <p:cNvPr id="15" name="Text 12"/>
          <p:cNvSpPr/>
          <p:nvPr/>
        </p:nvSpPr>
        <p:spPr>
          <a:xfrm>
            <a:off x="457200" y="4297680"/>
            <a:ext cx="11247120" cy="320040"/>
          </a:xfrm>
          <a:prstGeom prst="rect">
            <a:avLst/>
          </a:prstGeom>
          <a:noFill/>
          <a:ln/>
        </p:spPr>
        <p:txBody>
          <a:bodyPr wrap="square" lIns="0" tIns="0" rIns="0" bIns="0" rtlCol="0" anchor="ctr"/>
          <a:lstStyle/>
          <a:p>
            <a:pPr marL="0" indent="0" algn="l">
              <a:buNone/>
            </a:pPr>
            <a:r>
              <a:rPr lang="en-US" sz="1600" b="1" dirty="0">
                <a:solidFill>
                  <a:srgbClr val="1F1F1F"/>
                </a:solidFill>
                <a:latin typeface="Calibri" pitchFamily="34" charset="0"/>
                <a:ea typeface="Calibri" pitchFamily="34" charset="-122"/>
                <a:cs typeface="Calibri" pitchFamily="34" charset="-120"/>
              </a:rPr>
              <a:t>Descripción</a:t>
            </a:r>
            <a:endParaRPr lang="en-US" sz="1600" dirty="0"/>
          </a:p>
        </p:txBody>
      </p:sp>
      <p:sp>
        <p:nvSpPr>
          <p:cNvPr id="16" name="Text 13"/>
          <p:cNvSpPr/>
          <p:nvPr/>
        </p:nvSpPr>
        <p:spPr>
          <a:xfrm>
            <a:off x="457200" y="4617720"/>
            <a:ext cx="11247120" cy="1737360"/>
          </a:xfrm>
          <a:prstGeom prst="rect">
            <a:avLst/>
          </a:prstGeom>
          <a:noFill/>
          <a:ln/>
        </p:spPr>
        <p:txBody>
          <a:bodyPr wrap="square" lIns="0" tIns="0" rIns="0" bIns="0" rtlCol="0" anchor="t"/>
          <a:lstStyle/>
          <a:p>
            <a:pPr marL="0" indent="0" algn="just">
              <a:spcAft>
                <a:spcPts val="600"/>
              </a:spcAft>
              <a:buNone/>
            </a:pPr>
            <a:r>
              <a:rPr lang="en-US" sz="1300" dirty="0">
                <a:solidFill>
                  <a:srgbClr val="1F1F1F"/>
                </a:solidFill>
                <a:latin typeface="Calibri" pitchFamily="34" charset="0"/>
                <a:ea typeface="Calibri" pitchFamily="34" charset="-122"/>
                <a:cs typeface="Calibri" pitchFamily="34" charset="-120"/>
              </a:rPr>
              <a:t>El endpoint de inicio de sesión construye la consulta SQL mediante concatenación directa de cadenas con el campo email recibido del cliente, sin parametrización ni escape. Un atacante no autenticado puede inyectar SQL arbitrario en ese campo y eludir por completo la verificación de credenciales, obteniendo una sesión válida sobre la cuenta administradora del sistema.</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457200"/>
          </a:xfrm>
          <a:prstGeom prst="rect">
            <a:avLst/>
          </a:prstGeom>
          <a:solidFill>
            <a:srgbClr val="262626"/>
          </a:solidFill>
          <a:ln w="12700">
            <a:solidFill>
              <a:srgbClr val="262626"/>
            </a:solidFill>
            <a:prstDash val="solid"/>
          </a:ln>
        </p:spPr>
      </p:sp>
      <p:sp>
        <p:nvSpPr>
          <p:cNvPr id="3" name="Text 1"/>
          <p:cNvSpPr/>
          <p:nvPr/>
        </p:nvSpPr>
        <p:spPr>
          <a:xfrm>
            <a:off x="457200" y="0"/>
            <a:ext cx="8229600" cy="457200"/>
          </a:xfrm>
          <a:prstGeom prst="rect">
            <a:avLst/>
          </a:prstGeom>
          <a:noFill/>
          <a:ln/>
        </p:spPr>
        <p:txBody>
          <a:bodyPr wrap="square" lIns="0" tIns="0" rIns="0" bIns="0" rtlCol="0" anchor="ctr"/>
          <a:lstStyle/>
          <a:p>
            <a:pPr marL="0" indent="0" algn="l">
              <a:buNone/>
            </a:pPr>
            <a:r>
              <a:rPr lang="en-US" sz="1100" i="1" dirty="0">
                <a:solidFill>
                  <a:srgbClr val="FFFFFF"/>
                </a:solidFill>
                <a:latin typeface="Calibri" pitchFamily="34" charset="0"/>
                <a:ea typeface="Calibri" pitchFamily="34" charset="-122"/>
                <a:cs typeface="Calibri" pitchFamily="34" charset="-120"/>
              </a:rPr>
              <a:t>VULN-001 · SQL Injection en Autenticación · OWASP Juice Shop</a:t>
            </a:r>
            <a:endParaRPr lang="en-US" sz="1100" dirty="0"/>
          </a:p>
        </p:txBody>
      </p:sp>
      <p:sp>
        <p:nvSpPr>
          <p:cNvPr id="4" name="Text 2"/>
          <p:cNvSpPr/>
          <p:nvPr/>
        </p:nvSpPr>
        <p:spPr>
          <a:xfrm>
            <a:off x="10789920" y="0"/>
            <a:ext cx="914400" cy="457200"/>
          </a:xfrm>
          <a:prstGeom prst="rect">
            <a:avLst/>
          </a:prstGeom>
          <a:noFill/>
          <a:ln/>
        </p:spPr>
        <p:txBody>
          <a:bodyPr wrap="square" lIns="0" tIns="0" rIns="0" bIns="0" rtlCol="0" anchor="ctr"/>
          <a:lstStyle/>
          <a:p>
            <a:pPr marL="0" indent="0" algn="r">
              <a:buNone/>
            </a:pPr>
            <a:r>
              <a:rPr lang="en-US" sz="1100" dirty="0">
                <a:solidFill>
                  <a:srgbClr val="FFFFFF"/>
                </a:solidFill>
                <a:latin typeface="Calibri" pitchFamily="34" charset="0"/>
                <a:ea typeface="Calibri" pitchFamily="34" charset="-122"/>
                <a:cs typeface="Calibri" pitchFamily="34" charset="-120"/>
              </a:rPr>
              <a:t>2 / 4</a:t>
            </a:r>
            <a:endParaRPr lang="en-US" sz="1100" dirty="0"/>
          </a:p>
        </p:txBody>
      </p:sp>
      <p:sp>
        <p:nvSpPr>
          <p:cNvPr id="5" name="Text 3"/>
          <p:cNvSpPr/>
          <p:nvPr/>
        </p:nvSpPr>
        <p:spPr>
          <a:xfrm>
            <a:off x="457200" y="6537960"/>
            <a:ext cx="11247120" cy="274320"/>
          </a:xfrm>
          <a:prstGeom prst="rect">
            <a:avLst/>
          </a:prstGeom>
          <a:noFill/>
          <a:ln/>
        </p:spPr>
        <p:txBody>
          <a:bodyPr wrap="square" lIns="0" tIns="0" rIns="0" bIns="0" rtlCol="0" anchor="ctr"/>
          <a:lstStyle/>
          <a:p>
            <a:pPr marL="0" indent="0" algn="ctr">
              <a:buNone/>
            </a:pPr>
            <a:r>
              <a:rPr lang="en-US" sz="900" dirty="0">
                <a:solidFill>
                  <a:srgbClr val="595959"/>
                </a:solidFill>
                <a:latin typeface="Calibri" pitchFamily="34" charset="0"/>
                <a:ea typeface="Calibri" pitchFamily="34" charset="-122"/>
                <a:cs typeface="Calibri" pitchFamily="34" charset="-120"/>
              </a:rPr>
              <a:t>SI3006 — </a:t>
            </a:r>
            <a:r>
              <a:rPr lang="en-US" sz="900" dirty="0" err="1">
                <a:solidFill>
                  <a:srgbClr val="595959"/>
                </a:solidFill>
                <a:latin typeface="Calibri" pitchFamily="34" charset="0"/>
                <a:ea typeface="Calibri" pitchFamily="34" charset="-122"/>
                <a:cs typeface="Calibri" pitchFamily="34" charset="-120"/>
              </a:rPr>
              <a:t>Ciberseguridad</a:t>
            </a:r>
            <a:r>
              <a:rPr lang="en-US" sz="900" dirty="0">
                <a:solidFill>
                  <a:srgbClr val="595959"/>
                </a:solidFill>
                <a:latin typeface="Calibri" pitchFamily="34" charset="0"/>
                <a:ea typeface="Calibri" pitchFamily="34" charset="-122"/>
                <a:cs typeface="Calibri" pitchFamily="34" charset="-120"/>
              </a:rPr>
              <a:t> · Universidad EAFIT · Mayo 2026 - </a:t>
            </a:r>
            <a:r>
              <a:rPr lang="en-US" sz="900" dirty="0" err="1">
                <a:solidFill>
                  <a:srgbClr val="595959"/>
                </a:solidFill>
                <a:latin typeface="Calibri" pitchFamily="34" charset="0"/>
                <a:ea typeface="Calibri" pitchFamily="34" charset="-122"/>
                <a:cs typeface="Calibri" pitchFamily="34" charset="-120"/>
              </a:rPr>
              <a:t>Karmaland</a:t>
            </a:r>
            <a:endParaRPr lang="en-US" sz="900" dirty="0"/>
          </a:p>
        </p:txBody>
      </p:sp>
      <p:sp>
        <p:nvSpPr>
          <p:cNvPr id="6" name="Text 4"/>
          <p:cNvSpPr/>
          <p:nvPr/>
        </p:nvSpPr>
        <p:spPr>
          <a:xfrm>
            <a:off x="457200" y="640080"/>
            <a:ext cx="11247120" cy="548640"/>
          </a:xfrm>
          <a:prstGeom prst="rect">
            <a:avLst/>
          </a:prstGeom>
          <a:noFill/>
          <a:ln/>
        </p:spPr>
        <p:txBody>
          <a:bodyPr wrap="square" lIns="0" tIns="0" rIns="0" bIns="0" rtlCol="0" anchor="ctr"/>
          <a:lstStyle/>
          <a:p>
            <a:pPr marL="0" indent="0" algn="l">
              <a:buNone/>
            </a:pPr>
            <a:r>
              <a:rPr lang="en-US" sz="2800" b="1" dirty="0">
                <a:solidFill>
                  <a:srgbClr val="1F1F1F"/>
                </a:solidFill>
                <a:latin typeface="Calibri" pitchFamily="34" charset="0"/>
                <a:ea typeface="Calibri" pitchFamily="34" charset="-122"/>
                <a:cs typeface="Calibri" pitchFamily="34" charset="-120"/>
              </a:rPr>
              <a:t>Explotación de la Vulnerabilidad</a:t>
            </a:r>
            <a:endParaRPr lang="en-US" sz="2800" dirty="0"/>
          </a:p>
        </p:txBody>
      </p:sp>
      <p:sp>
        <p:nvSpPr>
          <p:cNvPr id="7" name="Shape 5"/>
          <p:cNvSpPr/>
          <p:nvPr/>
        </p:nvSpPr>
        <p:spPr>
          <a:xfrm>
            <a:off x="457200" y="1188720"/>
            <a:ext cx="11247120" cy="0"/>
          </a:xfrm>
          <a:prstGeom prst="line">
            <a:avLst/>
          </a:prstGeom>
          <a:noFill/>
          <a:ln w="9525">
            <a:solidFill>
              <a:srgbClr val="BFBFBF"/>
            </a:solidFill>
            <a:prstDash val="solid"/>
          </a:ln>
        </p:spPr>
      </p:sp>
      <p:sp>
        <p:nvSpPr>
          <p:cNvPr id="8" name="Text 6"/>
          <p:cNvSpPr/>
          <p:nvPr/>
        </p:nvSpPr>
        <p:spPr>
          <a:xfrm>
            <a:off x="457200" y="1371600"/>
            <a:ext cx="5486400" cy="320040"/>
          </a:xfrm>
          <a:prstGeom prst="rect">
            <a:avLst/>
          </a:prstGeom>
          <a:noFill/>
          <a:ln/>
        </p:spPr>
        <p:txBody>
          <a:bodyPr wrap="square" lIns="0" tIns="0" rIns="0" bIns="0" rtlCol="0" anchor="ctr"/>
          <a:lstStyle/>
          <a:p>
            <a:pPr marL="0" indent="0">
              <a:buNone/>
            </a:pPr>
            <a:r>
              <a:rPr lang="en-US" sz="1500" b="1" dirty="0">
                <a:solidFill>
                  <a:srgbClr val="1F1F1F"/>
                </a:solidFill>
                <a:latin typeface="Calibri" pitchFamily="34" charset="0"/>
                <a:ea typeface="Calibri" pitchFamily="34" charset="-122"/>
                <a:cs typeface="Calibri" pitchFamily="34" charset="-120"/>
              </a:rPr>
              <a:t>Pasos de explotación</a:t>
            </a:r>
            <a:endParaRPr lang="en-US" sz="1500" dirty="0"/>
          </a:p>
        </p:txBody>
      </p:sp>
      <p:sp>
        <p:nvSpPr>
          <p:cNvPr id="9" name="Text 7"/>
          <p:cNvSpPr/>
          <p:nvPr/>
        </p:nvSpPr>
        <p:spPr>
          <a:xfrm>
            <a:off x="457200" y="1737360"/>
            <a:ext cx="5486400" cy="3017520"/>
          </a:xfrm>
          <a:prstGeom prst="rect">
            <a:avLst/>
          </a:prstGeom>
          <a:noFill/>
          <a:ln/>
        </p:spPr>
        <p:txBody>
          <a:bodyPr wrap="square" lIns="0" tIns="0" rIns="0" bIns="0" rtlCol="0" anchor="t"/>
          <a:lstStyle/>
          <a:p>
            <a:pPr marL="0" indent="0">
              <a:spcAft>
                <a:spcPts val="600"/>
              </a:spcAft>
              <a:buNone/>
            </a:pPr>
            <a:r>
              <a:rPr lang="en-US" sz="1300" b="1" dirty="0">
                <a:solidFill>
                  <a:srgbClr val="595959"/>
                </a:solidFill>
                <a:latin typeface="Calibri" pitchFamily="34" charset="0"/>
                <a:ea typeface="Calibri" pitchFamily="34" charset="-122"/>
                <a:cs typeface="Calibri" pitchFamily="34" charset="-120"/>
              </a:rPr>
              <a:t>1. </a:t>
            </a:r>
            <a:r>
              <a:rPr lang="en-US" sz="1300" dirty="0">
                <a:solidFill>
                  <a:srgbClr val="1F1F1F"/>
                </a:solidFill>
                <a:latin typeface="Calibri" pitchFamily="34" charset="0"/>
                <a:ea typeface="Calibri" pitchFamily="34" charset="-122"/>
                <a:cs typeface="Calibri" pitchFamily="34" charset="-120"/>
              </a:rPr>
              <a:t>Acceder a </a:t>
            </a:r>
            <a:r>
              <a:rPr lang="en-US" sz="1200" dirty="0">
                <a:solidFill>
                  <a:srgbClr val="1F1F1F"/>
                </a:solidFill>
                <a:latin typeface="Consolas" pitchFamily="34" charset="0"/>
                <a:ea typeface="Consolas" pitchFamily="34" charset="-122"/>
                <a:cs typeface="Consolas" pitchFamily="34" charset="-120"/>
              </a:rPr>
              <a:t>http://&lt;IP&gt;:3000/#/login</a:t>
            </a:r>
            <a:r>
              <a:rPr lang="en-US" sz="1300" dirty="0">
                <a:solidFill>
                  <a:srgbClr val="1F1F1F"/>
                </a:solidFill>
                <a:latin typeface="Calibri" pitchFamily="34" charset="0"/>
                <a:ea typeface="Calibri" pitchFamily="34" charset="-122"/>
                <a:cs typeface="Calibri" pitchFamily="34" charset="-120"/>
              </a:rPr>
              <a:t> desde el navegador.</a:t>
            </a:r>
            <a:endParaRPr lang="en-US" sz="1300" dirty="0"/>
          </a:p>
          <a:p>
            <a:pPr marL="0" indent="0">
              <a:spcAft>
                <a:spcPts val="600"/>
              </a:spcAft>
              <a:buNone/>
            </a:pPr>
            <a:r>
              <a:rPr lang="en-US" sz="1300" b="1" dirty="0">
                <a:solidFill>
                  <a:srgbClr val="595959"/>
                </a:solidFill>
                <a:latin typeface="Calibri" pitchFamily="34" charset="0"/>
                <a:ea typeface="Calibri" pitchFamily="34" charset="-122"/>
                <a:cs typeface="Calibri" pitchFamily="34" charset="-120"/>
              </a:rPr>
              <a:t>2. </a:t>
            </a:r>
            <a:r>
              <a:rPr lang="en-US" sz="1300" dirty="0">
                <a:solidFill>
                  <a:srgbClr val="1F1F1F"/>
                </a:solidFill>
                <a:latin typeface="Calibri" pitchFamily="34" charset="0"/>
                <a:ea typeface="Calibri" pitchFamily="34" charset="-122"/>
                <a:cs typeface="Calibri" pitchFamily="34" charset="-120"/>
              </a:rPr>
              <a:t>Inyectar en el campo Email el payload:</a:t>
            </a:r>
            <a:endParaRPr lang="en-US" sz="1300" dirty="0"/>
          </a:p>
          <a:p>
            <a:pPr marL="0" indent="0">
              <a:spcAft>
                <a:spcPts val="600"/>
              </a:spcAft>
              <a:buNone/>
            </a:pPr>
            <a:r>
              <a:rPr lang="en-US" sz="1300" b="1" dirty="0">
                <a:solidFill>
                  <a:srgbClr val="8B0000"/>
                </a:solidFill>
                <a:latin typeface="Consolas" pitchFamily="34" charset="0"/>
                <a:ea typeface="Consolas" pitchFamily="34" charset="-122"/>
                <a:cs typeface="Consolas" pitchFamily="34" charset="-120"/>
              </a:rPr>
              <a:t>      ' OR 1=1--</a:t>
            </a:r>
            <a:endParaRPr lang="en-US" sz="1300" dirty="0"/>
          </a:p>
          <a:p>
            <a:pPr marL="0" indent="0">
              <a:spcAft>
                <a:spcPts val="600"/>
              </a:spcAft>
              <a:buNone/>
            </a:pPr>
            <a:r>
              <a:rPr lang="en-US" sz="1300" b="1" dirty="0">
                <a:solidFill>
                  <a:srgbClr val="595959"/>
                </a:solidFill>
                <a:latin typeface="Calibri" pitchFamily="34" charset="0"/>
                <a:ea typeface="Calibri" pitchFamily="34" charset="-122"/>
                <a:cs typeface="Calibri" pitchFamily="34" charset="-120"/>
              </a:rPr>
              <a:t>3. </a:t>
            </a:r>
            <a:r>
              <a:rPr lang="en-US" sz="1300" dirty="0">
                <a:solidFill>
                  <a:srgbClr val="1F1F1F"/>
                </a:solidFill>
                <a:latin typeface="Calibri" pitchFamily="34" charset="0"/>
                <a:ea typeface="Calibri" pitchFamily="34" charset="-122"/>
                <a:cs typeface="Calibri" pitchFamily="34" charset="-120"/>
              </a:rPr>
              <a:t>Ingresar cualquier valor en el campo Password.</a:t>
            </a:r>
            <a:endParaRPr lang="en-US" sz="1300" dirty="0"/>
          </a:p>
          <a:p>
            <a:pPr marL="0" indent="0">
              <a:spcAft>
                <a:spcPts val="600"/>
              </a:spcAft>
              <a:buNone/>
            </a:pPr>
            <a:r>
              <a:rPr lang="en-US" sz="1300" b="1" dirty="0">
                <a:solidFill>
                  <a:srgbClr val="595959"/>
                </a:solidFill>
                <a:latin typeface="Calibri" pitchFamily="34" charset="0"/>
                <a:ea typeface="Calibri" pitchFamily="34" charset="-122"/>
                <a:cs typeface="Calibri" pitchFamily="34" charset="-120"/>
              </a:rPr>
              <a:t>4. </a:t>
            </a:r>
            <a:r>
              <a:rPr lang="en-US" sz="1300" dirty="0">
                <a:solidFill>
                  <a:srgbClr val="1F1F1F"/>
                </a:solidFill>
                <a:latin typeface="Calibri" pitchFamily="34" charset="0"/>
                <a:ea typeface="Calibri" pitchFamily="34" charset="-122"/>
                <a:cs typeface="Calibri" pitchFamily="34" charset="-120"/>
              </a:rPr>
              <a:t>Pulsar el botón </a:t>
            </a:r>
            <a:r>
              <a:rPr lang="en-US" sz="1300" i="1" dirty="0">
                <a:solidFill>
                  <a:srgbClr val="1F1F1F"/>
                </a:solidFill>
                <a:latin typeface="Calibri" pitchFamily="34" charset="0"/>
                <a:ea typeface="Calibri" pitchFamily="34" charset="-122"/>
                <a:cs typeface="Calibri" pitchFamily="34" charset="-120"/>
              </a:rPr>
              <a:t>Log in</a:t>
            </a:r>
            <a:endParaRPr lang="en-US" sz="1300" dirty="0"/>
          </a:p>
          <a:p>
            <a:pPr marL="0" indent="0">
              <a:spcAft>
                <a:spcPts val="600"/>
              </a:spcAft>
              <a:buNone/>
            </a:pPr>
            <a:r>
              <a:rPr lang="en-US" sz="1300" b="1" dirty="0">
                <a:solidFill>
                  <a:srgbClr val="595959"/>
                </a:solidFill>
                <a:latin typeface="Calibri" pitchFamily="34" charset="0"/>
                <a:ea typeface="Calibri" pitchFamily="34" charset="-122"/>
                <a:cs typeface="Calibri" pitchFamily="34" charset="-120"/>
              </a:rPr>
              <a:t>5. </a:t>
            </a:r>
            <a:r>
              <a:rPr lang="en-US" sz="1300" dirty="0">
                <a:solidFill>
                  <a:srgbClr val="1F1F1F"/>
                </a:solidFill>
                <a:latin typeface="Calibri" pitchFamily="34" charset="0"/>
                <a:ea typeface="Calibri" pitchFamily="34" charset="-122"/>
                <a:cs typeface="Calibri" pitchFamily="34" charset="-120"/>
              </a:rPr>
              <a:t>Verificar que la barra superior muestra </a:t>
            </a:r>
            <a:r>
              <a:rPr lang="en-US" sz="1200" dirty="0">
                <a:solidFill>
                  <a:srgbClr val="1F1F1F"/>
                </a:solidFill>
                <a:latin typeface="Consolas" pitchFamily="34" charset="0"/>
                <a:ea typeface="Consolas" pitchFamily="34" charset="-122"/>
                <a:cs typeface="Consolas" pitchFamily="34" charset="-120"/>
              </a:rPr>
              <a:t>admin@juice-sh.op</a:t>
            </a:r>
            <a:r>
              <a:rPr lang="en-US" sz="1300" dirty="0">
                <a:solidFill>
                  <a:srgbClr val="1F1F1F"/>
                </a:solidFill>
                <a:latin typeface="Calibri" pitchFamily="34" charset="0"/>
                <a:ea typeface="Calibri" pitchFamily="34" charset="-122"/>
                <a:cs typeface="Calibri" pitchFamily="34" charset="-120"/>
              </a:rPr>
              <a:t>.</a:t>
            </a:r>
            <a:endParaRPr lang="en-US" sz="1300" dirty="0"/>
          </a:p>
          <a:p>
            <a:pPr marL="0" indent="0">
              <a:spcAft>
                <a:spcPts val="600"/>
              </a:spcAft>
              <a:buNone/>
            </a:pPr>
            <a:r>
              <a:rPr lang="en-US" sz="1300" b="1" dirty="0">
                <a:solidFill>
                  <a:srgbClr val="595959"/>
                </a:solidFill>
                <a:latin typeface="Calibri" pitchFamily="34" charset="0"/>
                <a:ea typeface="Calibri" pitchFamily="34" charset="-122"/>
                <a:cs typeface="Calibri" pitchFamily="34" charset="-120"/>
              </a:rPr>
              <a:t>6. </a:t>
            </a:r>
            <a:r>
              <a:rPr lang="en-US" sz="1300" dirty="0">
                <a:solidFill>
                  <a:srgbClr val="1F1F1F"/>
                </a:solidFill>
                <a:latin typeface="Calibri" pitchFamily="34" charset="0"/>
                <a:ea typeface="Calibri" pitchFamily="34" charset="-122"/>
                <a:cs typeface="Calibri" pitchFamily="34" charset="-120"/>
              </a:rPr>
              <a:t>Navegar a </a:t>
            </a:r>
            <a:r>
              <a:rPr lang="en-US" sz="1200" dirty="0">
                <a:solidFill>
                  <a:srgbClr val="1F1F1F"/>
                </a:solidFill>
                <a:latin typeface="Consolas" pitchFamily="34" charset="0"/>
                <a:ea typeface="Consolas" pitchFamily="34" charset="-122"/>
                <a:cs typeface="Consolas" pitchFamily="34" charset="-120"/>
              </a:rPr>
              <a:t>/#/administration</a:t>
            </a:r>
            <a:r>
              <a:rPr lang="en-US" sz="1300" dirty="0">
                <a:solidFill>
                  <a:srgbClr val="1F1F1F"/>
                </a:solidFill>
                <a:latin typeface="Calibri" pitchFamily="34" charset="0"/>
                <a:ea typeface="Calibri" pitchFamily="34" charset="-122"/>
                <a:cs typeface="Calibri" pitchFamily="34" charset="-120"/>
              </a:rPr>
              <a:t> y confirmar acceso al panel.</a:t>
            </a:r>
            <a:endParaRPr lang="en-US" sz="1300" dirty="0"/>
          </a:p>
        </p:txBody>
      </p:sp>
      <p:sp>
        <p:nvSpPr>
          <p:cNvPr id="10" name="Text 8"/>
          <p:cNvSpPr/>
          <p:nvPr/>
        </p:nvSpPr>
        <p:spPr>
          <a:xfrm>
            <a:off x="6309360" y="1371600"/>
            <a:ext cx="5486400" cy="320040"/>
          </a:xfrm>
          <a:prstGeom prst="rect">
            <a:avLst/>
          </a:prstGeom>
          <a:noFill/>
          <a:ln/>
        </p:spPr>
        <p:txBody>
          <a:bodyPr wrap="square" lIns="0" tIns="0" rIns="0" bIns="0" rtlCol="0" anchor="ctr"/>
          <a:lstStyle/>
          <a:p>
            <a:pPr marL="0" indent="0">
              <a:buNone/>
            </a:pPr>
            <a:r>
              <a:rPr lang="en-US" sz="1500" b="1" dirty="0">
                <a:solidFill>
                  <a:srgbClr val="1F1F1F"/>
                </a:solidFill>
                <a:latin typeface="Calibri" pitchFamily="34" charset="0"/>
                <a:ea typeface="Calibri" pitchFamily="34" charset="-122"/>
                <a:cs typeface="Calibri" pitchFamily="34" charset="-120"/>
              </a:rPr>
              <a:t>Código vulnerable (routes/login.ts)</a:t>
            </a:r>
            <a:endParaRPr lang="en-US" sz="1500" dirty="0"/>
          </a:p>
        </p:txBody>
      </p:sp>
      <p:sp>
        <p:nvSpPr>
          <p:cNvPr id="11" name="Shape 9"/>
          <p:cNvSpPr/>
          <p:nvPr/>
        </p:nvSpPr>
        <p:spPr>
          <a:xfrm>
            <a:off x="6309360" y="1737360"/>
            <a:ext cx="5486400" cy="1463040"/>
          </a:xfrm>
          <a:prstGeom prst="rect">
            <a:avLst/>
          </a:prstGeom>
          <a:solidFill>
            <a:srgbClr val="F5F5F5"/>
          </a:solidFill>
          <a:ln w="6350">
            <a:solidFill>
              <a:srgbClr val="BFBFBF"/>
            </a:solidFill>
            <a:prstDash val="solid"/>
          </a:ln>
        </p:spPr>
      </p:sp>
      <p:sp>
        <p:nvSpPr>
          <p:cNvPr id="12" name="Text 10"/>
          <p:cNvSpPr/>
          <p:nvPr/>
        </p:nvSpPr>
        <p:spPr>
          <a:xfrm>
            <a:off x="6400800" y="1783080"/>
            <a:ext cx="5303520" cy="1371600"/>
          </a:xfrm>
          <a:prstGeom prst="rect">
            <a:avLst/>
          </a:prstGeom>
          <a:noFill/>
          <a:ln/>
        </p:spPr>
        <p:txBody>
          <a:bodyPr wrap="square" lIns="0" tIns="0" rIns="0" bIns="0" rtlCol="0" anchor="t"/>
          <a:lstStyle/>
          <a:p>
            <a:pPr marL="0" indent="0">
              <a:buNone/>
            </a:pPr>
            <a:r>
              <a:rPr lang="en-US" sz="1100" dirty="0">
                <a:solidFill>
                  <a:srgbClr val="1F1F1F"/>
                </a:solidFill>
                <a:latin typeface="Consolas" pitchFamily="34" charset="0"/>
                <a:ea typeface="Consolas" pitchFamily="34" charset="-122"/>
                <a:cs typeface="Consolas" pitchFamily="34" charset="-120"/>
              </a:rPr>
              <a:t>models.sequelize.query(</a:t>
            </a:r>
            <a:endParaRPr lang="en-US" sz="1100" dirty="0"/>
          </a:p>
          <a:p>
            <a:pPr marL="0" indent="0">
              <a:buNone/>
            </a:pPr>
            <a:r>
              <a:rPr lang="en-US" sz="1100" dirty="0">
                <a:solidFill>
                  <a:srgbClr val="1F1F1F"/>
                </a:solidFill>
                <a:latin typeface="Consolas" pitchFamily="34" charset="0"/>
                <a:ea typeface="Consolas" pitchFamily="34" charset="-122"/>
                <a:cs typeface="Consolas" pitchFamily="34" charset="-120"/>
              </a:rPr>
              <a:t>  `SELECT * FROM Users</a:t>
            </a:r>
            <a:endParaRPr lang="en-US" sz="1100" dirty="0"/>
          </a:p>
          <a:p>
            <a:pPr marL="0" indent="0">
              <a:buNone/>
            </a:pPr>
            <a:r>
              <a:rPr lang="en-US" sz="1100" dirty="0">
                <a:solidFill>
                  <a:srgbClr val="1F1F1F"/>
                </a:solidFill>
                <a:latin typeface="Consolas" pitchFamily="34" charset="0"/>
                <a:ea typeface="Consolas" pitchFamily="34" charset="-122"/>
                <a:cs typeface="Consolas" pitchFamily="34" charset="-120"/>
              </a:rPr>
              <a:t>   WHERE email = '</a:t>
            </a:r>
            <a:r>
              <a:rPr lang="en-US" sz="1100" b="1" dirty="0">
                <a:solidFill>
                  <a:srgbClr val="8B0000"/>
                </a:solidFill>
                <a:latin typeface="Consolas" pitchFamily="34" charset="0"/>
                <a:ea typeface="Consolas" pitchFamily="34" charset="-122"/>
                <a:cs typeface="Consolas" pitchFamily="34" charset="-120"/>
              </a:rPr>
              <a:t>${req.body.email}</a:t>
            </a:r>
            <a:r>
              <a:rPr lang="en-US" sz="1100" dirty="0">
                <a:solidFill>
                  <a:srgbClr val="1F1F1F"/>
                </a:solidFill>
                <a:latin typeface="Consolas" pitchFamily="34" charset="0"/>
                <a:ea typeface="Consolas" pitchFamily="34" charset="-122"/>
                <a:cs typeface="Consolas" pitchFamily="34" charset="-120"/>
              </a:rPr>
              <a:t>'</a:t>
            </a:r>
            <a:endParaRPr lang="en-US" sz="1100" dirty="0"/>
          </a:p>
          <a:p>
            <a:pPr marL="0" indent="0">
              <a:buNone/>
            </a:pPr>
            <a:r>
              <a:rPr lang="en-US" sz="1100" dirty="0">
                <a:solidFill>
                  <a:srgbClr val="1F1F1F"/>
                </a:solidFill>
                <a:latin typeface="Consolas" pitchFamily="34" charset="0"/>
                <a:ea typeface="Consolas" pitchFamily="34" charset="-122"/>
                <a:cs typeface="Consolas" pitchFamily="34" charset="-120"/>
              </a:rPr>
              <a:t>   AND password = '</a:t>
            </a:r>
            <a:r>
              <a:rPr lang="en-US" sz="1100" b="1" dirty="0">
                <a:solidFill>
                  <a:srgbClr val="8B0000"/>
                </a:solidFill>
                <a:latin typeface="Consolas" pitchFamily="34" charset="0"/>
                <a:ea typeface="Consolas" pitchFamily="34" charset="-122"/>
                <a:cs typeface="Consolas" pitchFamily="34" charset="-120"/>
              </a:rPr>
              <a:t>${security.hash(req.body.password)}</a:t>
            </a:r>
            <a:r>
              <a:rPr lang="en-US" sz="1100" dirty="0">
                <a:solidFill>
                  <a:srgbClr val="1F1F1F"/>
                </a:solidFill>
                <a:latin typeface="Consolas" pitchFamily="34" charset="0"/>
                <a:ea typeface="Consolas" pitchFamily="34" charset="-122"/>
                <a:cs typeface="Consolas" pitchFamily="34" charset="-120"/>
              </a:rPr>
              <a:t>'`,</a:t>
            </a:r>
            <a:endParaRPr lang="en-US" sz="1100" dirty="0"/>
          </a:p>
          <a:p>
            <a:pPr marL="0" indent="0">
              <a:buNone/>
            </a:pPr>
            <a:r>
              <a:rPr lang="en-US" sz="1100" dirty="0">
                <a:solidFill>
                  <a:srgbClr val="1F1F1F"/>
                </a:solidFill>
                <a:latin typeface="Consolas" pitchFamily="34" charset="0"/>
                <a:ea typeface="Consolas" pitchFamily="34" charset="-122"/>
                <a:cs typeface="Consolas" pitchFamily="34" charset="-120"/>
              </a:rPr>
              <a:t>  { model: UserModel, plain: true }</a:t>
            </a:r>
            <a:endParaRPr lang="en-US" sz="1100" dirty="0"/>
          </a:p>
          <a:p>
            <a:pPr marL="0" indent="0">
              <a:buNone/>
            </a:pPr>
            <a:r>
              <a:rPr lang="en-US" sz="1100" dirty="0">
                <a:solidFill>
                  <a:srgbClr val="1F1F1F"/>
                </a:solidFill>
                <a:latin typeface="Consolas" pitchFamily="34" charset="0"/>
                <a:ea typeface="Consolas" pitchFamily="34" charset="-122"/>
                <a:cs typeface="Consolas" pitchFamily="34" charset="-120"/>
              </a:rPr>
              <a:t>)</a:t>
            </a:r>
            <a:endParaRPr lang="en-US" sz="1100" dirty="0"/>
          </a:p>
        </p:txBody>
      </p:sp>
      <p:sp>
        <p:nvSpPr>
          <p:cNvPr id="13" name="Text 11"/>
          <p:cNvSpPr/>
          <p:nvPr/>
        </p:nvSpPr>
        <p:spPr>
          <a:xfrm>
            <a:off x="6309360" y="3291840"/>
            <a:ext cx="5486400" cy="320040"/>
          </a:xfrm>
          <a:prstGeom prst="rect">
            <a:avLst/>
          </a:prstGeom>
          <a:noFill/>
          <a:ln/>
        </p:spPr>
        <p:txBody>
          <a:bodyPr wrap="square" lIns="0" tIns="0" rIns="0" bIns="0" rtlCol="0" anchor="ctr"/>
          <a:lstStyle/>
          <a:p>
            <a:pPr marL="0" indent="0">
              <a:buNone/>
            </a:pPr>
            <a:r>
              <a:rPr lang="en-US" sz="1300" b="1" dirty="0">
                <a:solidFill>
                  <a:srgbClr val="1F1F1F"/>
                </a:solidFill>
                <a:latin typeface="Calibri" pitchFamily="34" charset="0"/>
                <a:ea typeface="Calibri" pitchFamily="34" charset="-122"/>
                <a:cs typeface="Calibri" pitchFamily="34" charset="-120"/>
              </a:rPr>
              <a:t>Consulta SQL resultante con el payload inyectado</a:t>
            </a:r>
            <a:endParaRPr lang="en-US" sz="1300" dirty="0"/>
          </a:p>
        </p:txBody>
      </p:sp>
      <p:sp>
        <p:nvSpPr>
          <p:cNvPr id="14" name="Shape 12"/>
          <p:cNvSpPr/>
          <p:nvPr/>
        </p:nvSpPr>
        <p:spPr>
          <a:xfrm>
            <a:off x="6309360" y="3657600"/>
            <a:ext cx="5486400" cy="960120"/>
          </a:xfrm>
          <a:prstGeom prst="rect">
            <a:avLst/>
          </a:prstGeom>
          <a:solidFill>
            <a:srgbClr val="F5F5F5"/>
          </a:solidFill>
          <a:ln w="6350">
            <a:solidFill>
              <a:srgbClr val="BFBFBF"/>
            </a:solidFill>
            <a:prstDash val="solid"/>
          </a:ln>
        </p:spPr>
      </p:sp>
      <p:sp>
        <p:nvSpPr>
          <p:cNvPr id="15" name="Text 13"/>
          <p:cNvSpPr/>
          <p:nvPr/>
        </p:nvSpPr>
        <p:spPr>
          <a:xfrm>
            <a:off x="6400800" y="3703320"/>
            <a:ext cx="5303520" cy="868680"/>
          </a:xfrm>
          <a:prstGeom prst="rect">
            <a:avLst/>
          </a:prstGeom>
          <a:noFill/>
          <a:ln/>
        </p:spPr>
        <p:txBody>
          <a:bodyPr wrap="square" lIns="0" tIns="0" rIns="0" bIns="0" rtlCol="0" anchor="t"/>
          <a:lstStyle/>
          <a:p>
            <a:pPr marL="0" indent="0">
              <a:buNone/>
            </a:pPr>
            <a:r>
              <a:rPr lang="en-US" sz="1100" dirty="0">
                <a:solidFill>
                  <a:srgbClr val="1F1F1F"/>
                </a:solidFill>
                <a:latin typeface="Consolas" pitchFamily="34" charset="0"/>
                <a:ea typeface="Consolas" pitchFamily="34" charset="-122"/>
                <a:cs typeface="Consolas" pitchFamily="34" charset="-120"/>
              </a:rPr>
              <a:t>SELECT * FROM Users</a:t>
            </a:r>
            <a:endParaRPr lang="en-US" sz="1100" dirty="0"/>
          </a:p>
          <a:p>
            <a:pPr marL="0" indent="0">
              <a:buNone/>
            </a:pPr>
            <a:r>
              <a:rPr lang="en-US" sz="1100" dirty="0">
                <a:solidFill>
                  <a:srgbClr val="1F1F1F"/>
                </a:solidFill>
                <a:latin typeface="Consolas" pitchFamily="34" charset="0"/>
                <a:ea typeface="Consolas" pitchFamily="34" charset="-122"/>
                <a:cs typeface="Consolas" pitchFamily="34" charset="-120"/>
              </a:rPr>
              <a:t>WHERE email = '' OR 1=1</a:t>
            </a:r>
            <a:r>
              <a:rPr lang="en-US" sz="1100" b="1" dirty="0">
                <a:solidFill>
                  <a:srgbClr val="8B0000"/>
                </a:solidFill>
                <a:latin typeface="Consolas" pitchFamily="34" charset="0"/>
                <a:ea typeface="Consolas" pitchFamily="34" charset="-122"/>
                <a:cs typeface="Consolas" pitchFamily="34" charset="-120"/>
              </a:rPr>
              <a:t>--</a:t>
            </a:r>
            <a:r>
              <a:rPr lang="en-US" sz="1100" i="1" dirty="0">
                <a:solidFill>
                  <a:srgbClr val="595959"/>
                </a:solidFill>
                <a:latin typeface="Consolas" pitchFamily="34" charset="0"/>
                <a:ea typeface="Consolas" pitchFamily="34" charset="-122"/>
                <a:cs typeface="Consolas" pitchFamily="34" charset="-120"/>
              </a:rPr>
              <a:t>' AND ...</a:t>
            </a:r>
            <a:endParaRPr lang="en-US" sz="1100" dirty="0"/>
          </a:p>
        </p:txBody>
      </p:sp>
      <p:sp>
        <p:nvSpPr>
          <p:cNvPr id="16" name="Shape 14"/>
          <p:cNvSpPr/>
          <p:nvPr/>
        </p:nvSpPr>
        <p:spPr>
          <a:xfrm>
            <a:off x="242047" y="5029200"/>
            <a:ext cx="11247120" cy="1280160"/>
          </a:xfrm>
          <a:prstGeom prst="rect">
            <a:avLst/>
          </a:prstGeom>
          <a:solidFill>
            <a:srgbClr val="F2F2F2"/>
          </a:solidFill>
          <a:ln w="6350">
            <a:solidFill>
              <a:srgbClr val="BFBFBF"/>
            </a:solidFill>
            <a:prstDash val="solid"/>
          </a:ln>
        </p:spPr>
      </p:sp>
      <p:sp>
        <p:nvSpPr>
          <p:cNvPr id="17" name="Text 15"/>
          <p:cNvSpPr/>
          <p:nvPr/>
        </p:nvSpPr>
        <p:spPr>
          <a:xfrm>
            <a:off x="640080" y="5120640"/>
            <a:ext cx="10972800" cy="274320"/>
          </a:xfrm>
          <a:prstGeom prst="rect">
            <a:avLst/>
          </a:prstGeom>
          <a:noFill/>
          <a:ln/>
        </p:spPr>
        <p:txBody>
          <a:bodyPr wrap="square" lIns="0" tIns="0" rIns="0" bIns="0" rtlCol="0" anchor="ctr"/>
          <a:lstStyle/>
          <a:p>
            <a:pPr marL="0" indent="0">
              <a:buNone/>
            </a:pPr>
            <a:r>
              <a:rPr lang="en-US" sz="1200" kern="0" spc="300" dirty="0">
                <a:solidFill>
                  <a:srgbClr val="595959"/>
                </a:solidFill>
                <a:latin typeface="Calibri" pitchFamily="34" charset="0"/>
                <a:ea typeface="Calibri" pitchFamily="34" charset="-122"/>
                <a:cs typeface="Calibri" pitchFamily="34" charset="-120"/>
              </a:rPr>
              <a:t>Resultado observado</a:t>
            </a:r>
            <a:endParaRPr lang="en-US" sz="1200" dirty="0"/>
          </a:p>
        </p:txBody>
      </p:sp>
      <p:sp>
        <p:nvSpPr>
          <p:cNvPr id="18" name="Text 16"/>
          <p:cNvSpPr/>
          <p:nvPr/>
        </p:nvSpPr>
        <p:spPr>
          <a:xfrm>
            <a:off x="640080" y="5440680"/>
            <a:ext cx="10972800" cy="822960"/>
          </a:xfrm>
          <a:prstGeom prst="rect">
            <a:avLst/>
          </a:prstGeom>
          <a:noFill/>
          <a:ln/>
        </p:spPr>
        <p:txBody>
          <a:bodyPr wrap="square" lIns="0" tIns="0" rIns="0" bIns="0" rtlCol="0" anchor="t"/>
          <a:lstStyle/>
          <a:p>
            <a:pPr marL="0" indent="0" algn="l">
              <a:buNone/>
            </a:pPr>
            <a:r>
              <a:rPr lang="en-US" sz="1300" b="1" dirty="0">
                <a:solidFill>
                  <a:srgbClr val="1F1F1F"/>
                </a:solidFill>
                <a:latin typeface="Calibri" pitchFamily="34" charset="0"/>
                <a:ea typeface="Calibri" pitchFamily="34" charset="-122"/>
                <a:cs typeface="Calibri" pitchFamily="34" charset="-120"/>
              </a:rPr>
              <a:t>Respuesta HTTP 200 con token JWT válido. </a:t>
            </a:r>
            <a:r>
              <a:rPr lang="en-US" sz="1300" dirty="0">
                <a:solidFill>
                  <a:srgbClr val="1F1F1F"/>
                </a:solidFill>
                <a:latin typeface="Calibri" pitchFamily="34" charset="0"/>
                <a:ea typeface="Calibri" pitchFamily="34" charset="-122"/>
                <a:cs typeface="Calibri" pitchFamily="34" charset="-120"/>
              </a:rPr>
              <a:t>El atacante inicia sesión como </a:t>
            </a:r>
            <a:r>
              <a:rPr lang="en-US" sz="1200" b="1" dirty="0">
                <a:solidFill>
                  <a:srgbClr val="8B0000"/>
                </a:solidFill>
                <a:latin typeface="Consolas" pitchFamily="34" charset="0"/>
                <a:ea typeface="Consolas" pitchFamily="34" charset="-122"/>
                <a:cs typeface="Consolas" pitchFamily="34" charset="-120"/>
              </a:rPr>
              <a:t>admin@juice-sh.op</a:t>
            </a:r>
            <a:r>
              <a:rPr lang="en-US" sz="1300" dirty="0">
                <a:solidFill>
                  <a:srgbClr val="1F1F1F"/>
                </a:solidFill>
                <a:latin typeface="Calibri" pitchFamily="34" charset="0"/>
                <a:ea typeface="Calibri" pitchFamily="34" charset="-122"/>
                <a:cs typeface="Calibri" pitchFamily="34" charset="-120"/>
              </a:rPr>
              <a:t> sin conocer la contraseña, obteniendo acceso al panel /administration y a todos los datos sensibles del sistema (usuarios, pedidos, mensajes).</a:t>
            </a:r>
            <a:endParaRPr lang="en-US" sz="1300" dirty="0"/>
          </a:p>
        </p:txBody>
      </p:sp>
      <p:pic>
        <p:nvPicPr>
          <p:cNvPr id="20" name="Imagen 19">
            <a:extLst>
              <a:ext uri="{FF2B5EF4-FFF2-40B4-BE49-F238E27FC236}">
                <a16:creationId xmlns:a16="http://schemas.microsoft.com/office/drawing/2014/main" id="{A2F4380E-4B96-49A4-8C41-B39EE09E6D2C}"/>
              </a:ext>
            </a:extLst>
          </p:cNvPr>
          <p:cNvPicPr>
            <a:picLocks noChangeAspect="1"/>
          </p:cNvPicPr>
          <p:nvPr/>
        </p:nvPicPr>
        <p:blipFill>
          <a:blip r:embed="rId3"/>
          <a:stretch>
            <a:fillRect/>
          </a:stretch>
        </p:blipFill>
        <p:spPr>
          <a:xfrm>
            <a:off x="6309360" y="1688505"/>
            <a:ext cx="5486400" cy="155761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457200"/>
          </a:xfrm>
          <a:prstGeom prst="rect">
            <a:avLst/>
          </a:prstGeom>
          <a:solidFill>
            <a:srgbClr val="262626"/>
          </a:solidFill>
          <a:ln w="12700">
            <a:solidFill>
              <a:srgbClr val="262626"/>
            </a:solidFill>
            <a:prstDash val="solid"/>
          </a:ln>
        </p:spPr>
      </p:sp>
      <p:sp>
        <p:nvSpPr>
          <p:cNvPr id="3" name="Text 1"/>
          <p:cNvSpPr/>
          <p:nvPr/>
        </p:nvSpPr>
        <p:spPr>
          <a:xfrm>
            <a:off x="457200" y="0"/>
            <a:ext cx="8229600" cy="457200"/>
          </a:xfrm>
          <a:prstGeom prst="rect">
            <a:avLst/>
          </a:prstGeom>
          <a:noFill/>
          <a:ln/>
        </p:spPr>
        <p:txBody>
          <a:bodyPr wrap="square" lIns="0" tIns="0" rIns="0" bIns="0" rtlCol="0" anchor="ctr"/>
          <a:lstStyle/>
          <a:p>
            <a:pPr marL="0" indent="0" algn="l">
              <a:buNone/>
            </a:pPr>
            <a:r>
              <a:rPr lang="en-US" sz="1100" i="1" dirty="0">
                <a:solidFill>
                  <a:srgbClr val="FFFFFF"/>
                </a:solidFill>
                <a:latin typeface="Calibri" pitchFamily="34" charset="0"/>
                <a:ea typeface="Calibri" pitchFamily="34" charset="-122"/>
                <a:cs typeface="Calibri" pitchFamily="34" charset="-120"/>
              </a:rPr>
              <a:t>VULN-001 · SQL Injection en Autenticación · OWASP Juice Shop</a:t>
            </a:r>
            <a:endParaRPr lang="en-US" sz="1100" dirty="0"/>
          </a:p>
        </p:txBody>
      </p:sp>
      <p:sp>
        <p:nvSpPr>
          <p:cNvPr id="4" name="Text 2"/>
          <p:cNvSpPr/>
          <p:nvPr/>
        </p:nvSpPr>
        <p:spPr>
          <a:xfrm>
            <a:off x="10789920" y="0"/>
            <a:ext cx="914400" cy="457200"/>
          </a:xfrm>
          <a:prstGeom prst="rect">
            <a:avLst/>
          </a:prstGeom>
          <a:noFill/>
          <a:ln/>
        </p:spPr>
        <p:txBody>
          <a:bodyPr wrap="square" lIns="0" tIns="0" rIns="0" bIns="0" rtlCol="0" anchor="ctr"/>
          <a:lstStyle/>
          <a:p>
            <a:pPr marL="0" indent="0" algn="r">
              <a:buNone/>
            </a:pPr>
            <a:r>
              <a:rPr lang="en-US" sz="1100" dirty="0">
                <a:solidFill>
                  <a:srgbClr val="FFFFFF"/>
                </a:solidFill>
                <a:latin typeface="Calibri" pitchFamily="34" charset="0"/>
                <a:ea typeface="Calibri" pitchFamily="34" charset="-122"/>
                <a:cs typeface="Calibri" pitchFamily="34" charset="-120"/>
              </a:rPr>
              <a:t>3 / 4</a:t>
            </a:r>
            <a:endParaRPr lang="en-US" sz="1100" dirty="0"/>
          </a:p>
        </p:txBody>
      </p:sp>
      <p:sp>
        <p:nvSpPr>
          <p:cNvPr id="5" name="Text 3"/>
          <p:cNvSpPr/>
          <p:nvPr/>
        </p:nvSpPr>
        <p:spPr>
          <a:xfrm>
            <a:off x="457200" y="6537960"/>
            <a:ext cx="11247120" cy="274320"/>
          </a:xfrm>
          <a:prstGeom prst="rect">
            <a:avLst/>
          </a:prstGeom>
          <a:noFill/>
          <a:ln/>
        </p:spPr>
        <p:txBody>
          <a:bodyPr wrap="square" lIns="0" tIns="0" rIns="0" bIns="0" rtlCol="0" anchor="ctr"/>
          <a:lstStyle/>
          <a:p>
            <a:pPr marL="0" indent="0" algn="ctr">
              <a:buNone/>
            </a:pPr>
            <a:r>
              <a:rPr lang="en-US" sz="900" dirty="0">
                <a:solidFill>
                  <a:srgbClr val="595959"/>
                </a:solidFill>
                <a:latin typeface="Calibri" pitchFamily="34" charset="0"/>
                <a:ea typeface="Calibri" pitchFamily="34" charset="-122"/>
                <a:cs typeface="Calibri" pitchFamily="34" charset="-120"/>
              </a:rPr>
              <a:t>SI3006 — </a:t>
            </a:r>
            <a:r>
              <a:rPr lang="en-US" sz="900" dirty="0" err="1">
                <a:solidFill>
                  <a:srgbClr val="595959"/>
                </a:solidFill>
                <a:latin typeface="Calibri" pitchFamily="34" charset="0"/>
                <a:ea typeface="Calibri" pitchFamily="34" charset="-122"/>
                <a:cs typeface="Calibri" pitchFamily="34" charset="-120"/>
              </a:rPr>
              <a:t>Ciberseguridad</a:t>
            </a:r>
            <a:r>
              <a:rPr lang="en-US" sz="900" dirty="0">
                <a:solidFill>
                  <a:srgbClr val="595959"/>
                </a:solidFill>
                <a:latin typeface="Calibri" pitchFamily="34" charset="0"/>
                <a:ea typeface="Calibri" pitchFamily="34" charset="-122"/>
                <a:cs typeface="Calibri" pitchFamily="34" charset="-120"/>
              </a:rPr>
              <a:t> · Universidad EAFIT · Mayo 2026 - </a:t>
            </a:r>
            <a:r>
              <a:rPr lang="en-US" sz="900" dirty="0" err="1">
                <a:solidFill>
                  <a:srgbClr val="595959"/>
                </a:solidFill>
                <a:latin typeface="Calibri" pitchFamily="34" charset="0"/>
                <a:ea typeface="Calibri" pitchFamily="34" charset="-122"/>
                <a:cs typeface="Calibri" pitchFamily="34" charset="-120"/>
              </a:rPr>
              <a:t>Karmaland</a:t>
            </a:r>
            <a:endParaRPr lang="en-US" sz="900" dirty="0"/>
          </a:p>
        </p:txBody>
      </p:sp>
      <p:sp>
        <p:nvSpPr>
          <p:cNvPr id="6" name="Text 4"/>
          <p:cNvSpPr/>
          <p:nvPr/>
        </p:nvSpPr>
        <p:spPr>
          <a:xfrm>
            <a:off x="457200" y="640080"/>
            <a:ext cx="11247120" cy="548640"/>
          </a:xfrm>
          <a:prstGeom prst="rect">
            <a:avLst/>
          </a:prstGeom>
          <a:noFill/>
          <a:ln/>
        </p:spPr>
        <p:txBody>
          <a:bodyPr wrap="square" lIns="0" tIns="0" rIns="0" bIns="0" rtlCol="0" anchor="ctr"/>
          <a:lstStyle/>
          <a:p>
            <a:pPr marL="0" indent="0" algn="l">
              <a:buNone/>
            </a:pPr>
            <a:r>
              <a:rPr lang="en-US" sz="2800" b="1" dirty="0">
                <a:solidFill>
                  <a:srgbClr val="1F1F1F"/>
                </a:solidFill>
                <a:latin typeface="Calibri" pitchFamily="34" charset="0"/>
                <a:ea typeface="Calibri" pitchFamily="34" charset="-122"/>
                <a:cs typeface="Calibri" pitchFamily="34" charset="-120"/>
              </a:rPr>
              <a:t>Evidencia de la Explotación</a:t>
            </a:r>
            <a:endParaRPr lang="en-US" sz="2800" dirty="0"/>
          </a:p>
        </p:txBody>
      </p:sp>
      <p:sp>
        <p:nvSpPr>
          <p:cNvPr id="7" name="Shape 5"/>
          <p:cNvSpPr/>
          <p:nvPr/>
        </p:nvSpPr>
        <p:spPr>
          <a:xfrm>
            <a:off x="457200" y="1188720"/>
            <a:ext cx="11247120" cy="0"/>
          </a:xfrm>
          <a:prstGeom prst="line">
            <a:avLst/>
          </a:prstGeom>
          <a:noFill/>
          <a:ln w="9525">
            <a:solidFill>
              <a:srgbClr val="BFBFBF"/>
            </a:solidFill>
            <a:prstDash val="solid"/>
          </a:ln>
        </p:spPr>
      </p:sp>
      <p:sp>
        <p:nvSpPr>
          <p:cNvPr id="8" name="Shape 6"/>
          <p:cNvSpPr/>
          <p:nvPr/>
        </p:nvSpPr>
        <p:spPr>
          <a:xfrm>
            <a:off x="53340" y="1417320"/>
            <a:ext cx="5798820" cy="1920240"/>
          </a:xfrm>
          <a:prstGeom prst="rect">
            <a:avLst/>
          </a:prstGeom>
          <a:solidFill>
            <a:srgbClr val="FAFAFA"/>
          </a:solidFill>
          <a:ln w="12700">
            <a:solidFill>
              <a:srgbClr val="BFBFBF"/>
            </a:solidFill>
            <a:prstDash val="dash"/>
          </a:ln>
        </p:spPr>
      </p:sp>
      <p:sp>
        <p:nvSpPr>
          <p:cNvPr id="9" name="Text 7"/>
          <p:cNvSpPr/>
          <p:nvPr/>
        </p:nvSpPr>
        <p:spPr>
          <a:xfrm>
            <a:off x="457200" y="1417320"/>
            <a:ext cx="5394960" cy="1920240"/>
          </a:xfrm>
          <a:prstGeom prst="rect">
            <a:avLst/>
          </a:prstGeom>
          <a:noFill/>
          <a:ln/>
        </p:spPr>
        <p:txBody>
          <a:bodyPr wrap="square" lIns="0" tIns="0" rIns="0" bIns="0" rtlCol="0" anchor="ctr"/>
          <a:lstStyle/>
          <a:p>
            <a:pPr marL="0" indent="0" algn="ctr">
              <a:buNone/>
            </a:pPr>
            <a:r>
              <a:rPr lang="en-US" sz="1200" i="1" dirty="0">
                <a:solidFill>
                  <a:srgbClr val="595959"/>
                </a:solidFill>
                <a:latin typeface="Calibri" pitchFamily="34" charset="0"/>
                <a:ea typeface="Calibri" pitchFamily="34" charset="-122"/>
                <a:cs typeface="Calibri" pitchFamily="34" charset="-120"/>
              </a:rPr>
              <a:t>[ Reemplazar con captura de pantalla ]</a:t>
            </a:r>
            <a:endParaRPr lang="en-US" sz="1200" dirty="0"/>
          </a:p>
        </p:txBody>
      </p:sp>
      <p:sp>
        <p:nvSpPr>
          <p:cNvPr id="10" name="Text 8"/>
          <p:cNvSpPr/>
          <p:nvPr/>
        </p:nvSpPr>
        <p:spPr>
          <a:xfrm>
            <a:off x="457200" y="3383280"/>
            <a:ext cx="5394960" cy="274320"/>
          </a:xfrm>
          <a:prstGeom prst="rect">
            <a:avLst/>
          </a:prstGeom>
          <a:noFill/>
          <a:ln/>
        </p:spPr>
        <p:txBody>
          <a:bodyPr wrap="square" lIns="0" tIns="0" rIns="0" bIns="0" rtlCol="0" anchor="ctr"/>
          <a:lstStyle/>
          <a:p>
            <a:pPr marL="0" indent="0" algn="l">
              <a:buNone/>
            </a:pPr>
            <a:r>
              <a:rPr lang="en-US" sz="1200" b="1" dirty="0">
                <a:solidFill>
                  <a:srgbClr val="1F1F1F"/>
                </a:solidFill>
                <a:latin typeface="Calibri" pitchFamily="34" charset="0"/>
                <a:ea typeface="Calibri" pitchFamily="34" charset="-122"/>
                <a:cs typeface="Calibri" pitchFamily="34" charset="-120"/>
              </a:rPr>
              <a:t>1. Formulario de login con el payload inyectado</a:t>
            </a:r>
            <a:endParaRPr lang="en-US" sz="1200" dirty="0"/>
          </a:p>
        </p:txBody>
      </p:sp>
      <p:sp>
        <p:nvSpPr>
          <p:cNvPr id="12" name="Shape 10"/>
          <p:cNvSpPr/>
          <p:nvPr/>
        </p:nvSpPr>
        <p:spPr>
          <a:xfrm>
            <a:off x="6309360" y="1417320"/>
            <a:ext cx="5882640" cy="1920240"/>
          </a:xfrm>
          <a:prstGeom prst="rect">
            <a:avLst/>
          </a:prstGeom>
          <a:solidFill>
            <a:srgbClr val="FAFAFA"/>
          </a:solidFill>
          <a:ln w="12700">
            <a:solidFill>
              <a:srgbClr val="BFBFBF"/>
            </a:solidFill>
            <a:prstDash val="dash"/>
          </a:ln>
        </p:spPr>
      </p:sp>
      <p:sp>
        <p:nvSpPr>
          <p:cNvPr id="13" name="Text 11"/>
          <p:cNvSpPr/>
          <p:nvPr/>
        </p:nvSpPr>
        <p:spPr>
          <a:xfrm>
            <a:off x="6309360" y="1417320"/>
            <a:ext cx="5394960" cy="1920240"/>
          </a:xfrm>
          <a:prstGeom prst="rect">
            <a:avLst/>
          </a:prstGeom>
          <a:noFill/>
          <a:ln/>
        </p:spPr>
        <p:txBody>
          <a:bodyPr wrap="square" lIns="0" tIns="0" rIns="0" bIns="0" rtlCol="0" anchor="ctr"/>
          <a:lstStyle/>
          <a:p>
            <a:pPr marL="0" indent="0" algn="ctr">
              <a:buNone/>
            </a:pPr>
            <a:r>
              <a:rPr lang="en-US" sz="1200" i="1" dirty="0">
                <a:solidFill>
                  <a:srgbClr val="595959"/>
                </a:solidFill>
                <a:latin typeface="Calibri" pitchFamily="34" charset="0"/>
                <a:ea typeface="Calibri" pitchFamily="34" charset="-122"/>
                <a:cs typeface="Calibri" pitchFamily="34" charset="-120"/>
              </a:rPr>
              <a:t>[ Reemplazar con captura de pantalla ]</a:t>
            </a:r>
            <a:endParaRPr lang="en-US" sz="1200" dirty="0"/>
          </a:p>
        </p:txBody>
      </p:sp>
      <p:sp>
        <p:nvSpPr>
          <p:cNvPr id="14" name="Text 12"/>
          <p:cNvSpPr/>
          <p:nvPr/>
        </p:nvSpPr>
        <p:spPr>
          <a:xfrm>
            <a:off x="6309360" y="3383280"/>
            <a:ext cx="5394960" cy="274320"/>
          </a:xfrm>
          <a:prstGeom prst="rect">
            <a:avLst/>
          </a:prstGeom>
          <a:noFill/>
          <a:ln/>
        </p:spPr>
        <p:txBody>
          <a:bodyPr wrap="square" lIns="0" tIns="0" rIns="0" bIns="0" rtlCol="0" anchor="ctr"/>
          <a:lstStyle/>
          <a:p>
            <a:pPr marL="0" indent="0" algn="l">
              <a:buNone/>
            </a:pPr>
            <a:r>
              <a:rPr lang="en-US" sz="1200" b="1" dirty="0">
                <a:solidFill>
                  <a:srgbClr val="1F1F1F"/>
                </a:solidFill>
                <a:latin typeface="Calibri" pitchFamily="34" charset="0"/>
                <a:ea typeface="Calibri" pitchFamily="34" charset="-122"/>
                <a:cs typeface="Calibri" pitchFamily="34" charset="-120"/>
              </a:rPr>
              <a:t>2. Petición HTTP interceptada en Burp Suite</a:t>
            </a:r>
            <a:endParaRPr lang="en-US" sz="1200" dirty="0"/>
          </a:p>
        </p:txBody>
      </p:sp>
      <p:sp>
        <p:nvSpPr>
          <p:cNvPr id="16" name="Shape 14"/>
          <p:cNvSpPr/>
          <p:nvPr/>
        </p:nvSpPr>
        <p:spPr>
          <a:xfrm>
            <a:off x="53340" y="3977640"/>
            <a:ext cx="6042660" cy="1920240"/>
          </a:xfrm>
          <a:prstGeom prst="rect">
            <a:avLst/>
          </a:prstGeom>
          <a:solidFill>
            <a:srgbClr val="FAFAFA"/>
          </a:solidFill>
          <a:ln w="12700">
            <a:solidFill>
              <a:srgbClr val="BFBFBF"/>
            </a:solidFill>
            <a:prstDash val="dash"/>
          </a:ln>
        </p:spPr>
      </p:sp>
      <p:sp>
        <p:nvSpPr>
          <p:cNvPr id="17" name="Text 15"/>
          <p:cNvSpPr/>
          <p:nvPr/>
        </p:nvSpPr>
        <p:spPr>
          <a:xfrm>
            <a:off x="457200" y="3977640"/>
            <a:ext cx="5394960" cy="1920240"/>
          </a:xfrm>
          <a:prstGeom prst="rect">
            <a:avLst/>
          </a:prstGeom>
          <a:noFill/>
          <a:ln/>
        </p:spPr>
        <p:txBody>
          <a:bodyPr wrap="square" lIns="0" tIns="0" rIns="0" bIns="0" rtlCol="0" anchor="ctr"/>
          <a:lstStyle/>
          <a:p>
            <a:pPr marL="0" indent="0" algn="ctr">
              <a:buNone/>
            </a:pPr>
            <a:r>
              <a:rPr lang="en-US" sz="1200" i="1" dirty="0">
                <a:solidFill>
                  <a:srgbClr val="595959"/>
                </a:solidFill>
                <a:latin typeface="Calibri" pitchFamily="34" charset="0"/>
                <a:ea typeface="Calibri" pitchFamily="34" charset="-122"/>
                <a:cs typeface="Calibri" pitchFamily="34" charset="-120"/>
              </a:rPr>
              <a:t>[ Reemplazar con captura de pantalla ]</a:t>
            </a:r>
            <a:endParaRPr lang="en-US" sz="1200" dirty="0"/>
          </a:p>
        </p:txBody>
      </p:sp>
      <p:sp>
        <p:nvSpPr>
          <p:cNvPr id="18" name="Text 16"/>
          <p:cNvSpPr/>
          <p:nvPr/>
        </p:nvSpPr>
        <p:spPr>
          <a:xfrm>
            <a:off x="457200" y="5943600"/>
            <a:ext cx="5394960" cy="274320"/>
          </a:xfrm>
          <a:prstGeom prst="rect">
            <a:avLst/>
          </a:prstGeom>
          <a:noFill/>
          <a:ln/>
        </p:spPr>
        <p:txBody>
          <a:bodyPr wrap="square" lIns="0" tIns="0" rIns="0" bIns="0" rtlCol="0" anchor="ctr"/>
          <a:lstStyle/>
          <a:p>
            <a:pPr marL="0" indent="0" algn="l">
              <a:buNone/>
            </a:pPr>
            <a:r>
              <a:rPr lang="en-US" sz="1200" b="1" dirty="0">
                <a:solidFill>
                  <a:srgbClr val="1F1F1F"/>
                </a:solidFill>
                <a:latin typeface="Calibri" pitchFamily="34" charset="0"/>
                <a:ea typeface="Calibri" pitchFamily="34" charset="-122"/>
                <a:cs typeface="Calibri" pitchFamily="34" charset="-120"/>
              </a:rPr>
              <a:t>3. Respuesta del servidor con token JWT</a:t>
            </a:r>
            <a:endParaRPr lang="en-US" sz="1200" dirty="0"/>
          </a:p>
        </p:txBody>
      </p:sp>
      <p:sp>
        <p:nvSpPr>
          <p:cNvPr id="20" name="Shape 18"/>
          <p:cNvSpPr/>
          <p:nvPr/>
        </p:nvSpPr>
        <p:spPr>
          <a:xfrm>
            <a:off x="6309360" y="3749040"/>
            <a:ext cx="5852160" cy="2194560"/>
          </a:xfrm>
          <a:prstGeom prst="rect">
            <a:avLst/>
          </a:prstGeom>
          <a:solidFill>
            <a:srgbClr val="FAFAFA"/>
          </a:solidFill>
          <a:ln w="12700">
            <a:solidFill>
              <a:srgbClr val="BFBFBF"/>
            </a:solidFill>
            <a:prstDash val="dash"/>
          </a:ln>
        </p:spPr>
      </p:sp>
      <p:sp>
        <p:nvSpPr>
          <p:cNvPr id="21" name="Text 19"/>
          <p:cNvSpPr/>
          <p:nvPr/>
        </p:nvSpPr>
        <p:spPr>
          <a:xfrm>
            <a:off x="6309360" y="3977640"/>
            <a:ext cx="5394960" cy="1920240"/>
          </a:xfrm>
          <a:prstGeom prst="rect">
            <a:avLst/>
          </a:prstGeom>
          <a:noFill/>
          <a:ln/>
        </p:spPr>
        <p:txBody>
          <a:bodyPr wrap="square" lIns="0" tIns="0" rIns="0" bIns="0" rtlCol="0" anchor="ctr"/>
          <a:lstStyle/>
          <a:p>
            <a:pPr marL="0" indent="0" algn="ctr">
              <a:buNone/>
            </a:pPr>
            <a:r>
              <a:rPr lang="en-US" sz="1200" i="1" dirty="0">
                <a:solidFill>
                  <a:srgbClr val="595959"/>
                </a:solidFill>
                <a:latin typeface="Calibri" pitchFamily="34" charset="0"/>
                <a:ea typeface="Calibri" pitchFamily="34" charset="-122"/>
                <a:cs typeface="Calibri" pitchFamily="34" charset="-120"/>
              </a:rPr>
              <a:t>[ Reemplazar con captura de pantalla ]</a:t>
            </a:r>
            <a:endParaRPr lang="en-US" sz="1200" dirty="0"/>
          </a:p>
        </p:txBody>
      </p:sp>
      <p:sp>
        <p:nvSpPr>
          <p:cNvPr id="22" name="Text 20"/>
          <p:cNvSpPr/>
          <p:nvPr/>
        </p:nvSpPr>
        <p:spPr>
          <a:xfrm>
            <a:off x="6309360" y="5943600"/>
            <a:ext cx="5394960" cy="274320"/>
          </a:xfrm>
          <a:prstGeom prst="rect">
            <a:avLst/>
          </a:prstGeom>
          <a:noFill/>
          <a:ln/>
        </p:spPr>
        <p:txBody>
          <a:bodyPr wrap="square" lIns="0" tIns="0" rIns="0" bIns="0" rtlCol="0" anchor="ctr"/>
          <a:lstStyle/>
          <a:p>
            <a:pPr marL="0" indent="0" algn="l">
              <a:buNone/>
            </a:pPr>
            <a:r>
              <a:rPr lang="en-US" sz="1200" b="1" dirty="0">
                <a:solidFill>
                  <a:srgbClr val="1F1F1F"/>
                </a:solidFill>
                <a:latin typeface="Calibri" pitchFamily="34" charset="0"/>
                <a:ea typeface="Calibri" pitchFamily="34" charset="-122"/>
                <a:cs typeface="Calibri" pitchFamily="34" charset="-120"/>
              </a:rPr>
              <a:t>4. Acceso al panel /administration</a:t>
            </a:r>
            <a:endParaRPr lang="en-US" sz="1200" dirty="0"/>
          </a:p>
        </p:txBody>
      </p:sp>
      <p:pic>
        <p:nvPicPr>
          <p:cNvPr id="25" name="Imagen 24">
            <a:extLst>
              <a:ext uri="{FF2B5EF4-FFF2-40B4-BE49-F238E27FC236}">
                <a16:creationId xmlns:a16="http://schemas.microsoft.com/office/drawing/2014/main" id="{A633A3B0-2AF4-45D3-83DA-B79F885A19E0}"/>
              </a:ext>
            </a:extLst>
          </p:cNvPr>
          <p:cNvPicPr>
            <a:picLocks noChangeAspect="1"/>
          </p:cNvPicPr>
          <p:nvPr/>
        </p:nvPicPr>
        <p:blipFill>
          <a:blip r:embed="rId3"/>
          <a:stretch>
            <a:fillRect/>
          </a:stretch>
        </p:blipFill>
        <p:spPr>
          <a:xfrm>
            <a:off x="0" y="1371600"/>
            <a:ext cx="5882640" cy="2011680"/>
          </a:xfrm>
          <a:prstGeom prst="rect">
            <a:avLst/>
          </a:prstGeom>
        </p:spPr>
      </p:pic>
      <p:pic>
        <p:nvPicPr>
          <p:cNvPr id="27" name="Imagen 26">
            <a:extLst>
              <a:ext uri="{FF2B5EF4-FFF2-40B4-BE49-F238E27FC236}">
                <a16:creationId xmlns:a16="http://schemas.microsoft.com/office/drawing/2014/main" id="{73D86966-0E54-4C0E-895B-4979C32FE257}"/>
              </a:ext>
            </a:extLst>
          </p:cNvPr>
          <p:cNvPicPr>
            <a:picLocks noChangeAspect="1"/>
          </p:cNvPicPr>
          <p:nvPr/>
        </p:nvPicPr>
        <p:blipFill>
          <a:blip r:embed="rId4"/>
          <a:stretch>
            <a:fillRect/>
          </a:stretch>
        </p:blipFill>
        <p:spPr>
          <a:xfrm>
            <a:off x="6309360" y="1371600"/>
            <a:ext cx="5852160" cy="2057400"/>
          </a:xfrm>
          <a:prstGeom prst="rect">
            <a:avLst/>
          </a:prstGeom>
        </p:spPr>
      </p:pic>
      <p:pic>
        <p:nvPicPr>
          <p:cNvPr id="29" name="Imagen 28">
            <a:extLst>
              <a:ext uri="{FF2B5EF4-FFF2-40B4-BE49-F238E27FC236}">
                <a16:creationId xmlns:a16="http://schemas.microsoft.com/office/drawing/2014/main" id="{11C98E2F-F4B9-4954-9F69-48CBBC8337F3}"/>
              </a:ext>
            </a:extLst>
          </p:cNvPr>
          <p:cNvPicPr>
            <a:picLocks noChangeAspect="1"/>
          </p:cNvPicPr>
          <p:nvPr/>
        </p:nvPicPr>
        <p:blipFill>
          <a:blip r:embed="rId5"/>
          <a:stretch>
            <a:fillRect/>
          </a:stretch>
        </p:blipFill>
        <p:spPr>
          <a:xfrm>
            <a:off x="53340" y="3749040"/>
            <a:ext cx="3131820" cy="2215646"/>
          </a:xfrm>
          <a:prstGeom prst="rect">
            <a:avLst/>
          </a:prstGeom>
        </p:spPr>
      </p:pic>
      <p:pic>
        <p:nvPicPr>
          <p:cNvPr id="31" name="Imagen 30">
            <a:extLst>
              <a:ext uri="{FF2B5EF4-FFF2-40B4-BE49-F238E27FC236}">
                <a16:creationId xmlns:a16="http://schemas.microsoft.com/office/drawing/2014/main" id="{E96B8490-2232-4EDB-89E5-2AEF6F94F74A}"/>
              </a:ext>
            </a:extLst>
          </p:cNvPr>
          <p:cNvPicPr>
            <a:picLocks noChangeAspect="1"/>
          </p:cNvPicPr>
          <p:nvPr/>
        </p:nvPicPr>
        <p:blipFill>
          <a:blip r:embed="rId6"/>
          <a:stretch>
            <a:fillRect/>
          </a:stretch>
        </p:blipFill>
        <p:spPr>
          <a:xfrm>
            <a:off x="3185160" y="3749040"/>
            <a:ext cx="2910840" cy="2215646"/>
          </a:xfrm>
          <a:prstGeom prst="rect">
            <a:avLst/>
          </a:prstGeom>
        </p:spPr>
      </p:pic>
      <p:pic>
        <p:nvPicPr>
          <p:cNvPr id="33" name="Imagen 32">
            <a:extLst>
              <a:ext uri="{FF2B5EF4-FFF2-40B4-BE49-F238E27FC236}">
                <a16:creationId xmlns:a16="http://schemas.microsoft.com/office/drawing/2014/main" id="{BCBED493-351F-43C3-9359-BF2642514CC9}"/>
              </a:ext>
            </a:extLst>
          </p:cNvPr>
          <p:cNvPicPr>
            <a:picLocks noChangeAspect="1"/>
          </p:cNvPicPr>
          <p:nvPr/>
        </p:nvPicPr>
        <p:blipFill>
          <a:blip r:embed="rId7"/>
          <a:stretch>
            <a:fillRect/>
          </a:stretch>
        </p:blipFill>
        <p:spPr>
          <a:xfrm>
            <a:off x="6309360" y="3749040"/>
            <a:ext cx="2108499" cy="2194560"/>
          </a:xfrm>
          <a:prstGeom prst="rect">
            <a:avLst/>
          </a:prstGeom>
        </p:spPr>
      </p:pic>
      <p:pic>
        <p:nvPicPr>
          <p:cNvPr id="35" name="Imagen 34">
            <a:extLst>
              <a:ext uri="{FF2B5EF4-FFF2-40B4-BE49-F238E27FC236}">
                <a16:creationId xmlns:a16="http://schemas.microsoft.com/office/drawing/2014/main" id="{59DAD9B5-CD0B-461D-8FF8-5390090461C1}"/>
              </a:ext>
            </a:extLst>
          </p:cNvPr>
          <p:cNvPicPr>
            <a:picLocks noChangeAspect="1"/>
          </p:cNvPicPr>
          <p:nvPr/>
        </p:nvPicPr>
        <p:blipFill>
          <a:blip r:embed="rId8"/>
          <a:stretch>
            <a:fillRect/>
          </a:stretch>
        </p:blipFill>
        <p:spPr>
          <a:xfrm>
            <a:off x="8417859" y="3749041"/>
            <a:ext cx="3743661" cy="219456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457200"/>
          </a:xfrm>
          <a:prstGeom prst="rect">
            <a:avLst/>
          </a:prstGeom>
          <a:solidFill>
            <a:srgbClr val="262626"/>
          </a:solidFill>
          <a:ln w="12700">
            <a:solidFill>
              <a:srgbClr val="262626"/>
            </a:solidFill>
            <a:prstDash val="solid"/>
          </a:ln>
        </p:spPr>
      </p:sp>
      <p:sp>
        <p:nvSpPr>
          <p:cNvPr id="3" name="Text 1"/>
          <p:cNvSpPr/>
          <p:nvPr/>
        </p:nvSpPr>
        <p:spPr>
          <a:xfrm>
            <a:off x="457200" y="0"/>
            <a:ext cx="8229600" cy="457200"/>
          </a:xfrm>
          <a:prstGeom prst="rect">
            <a:avLst/>
          </a:prstGeom>
          <a:noFill/>
          <a:ln/>
        </p:spPr>
        <p:txBody>
          <a:bodyPr wrap="square" lIns="0" tIns="0" rIns="0" bIns="0" rtlCol="0" anchor="ctr"/>
          <a:lstStyle/>
          <a:p>
            <a:pPr marL="0" indent="0" algn="l">
              <a:buNone/>
            </a:pPr>
            <a:r>
              <a:rPr lang="en-US" sz="1100" i="1" dirty="0">
                <a:solidFill>
                  <a:srgbClr val="FFFFFF"/>
                </a:solidFill>
                <a:latin typeface="Calibri" pitchFamily="34" charset="0"/>
                <a:ea typeface="Calibri" pitchFamily="34" charset="-122"/>
                <a:cs typeface="Calibri" pitchFamily="34" charset="-120"/>
              </a:rPr>
              <a:t>VULN-001 · SQL Injection en Autenticación · OWASP Juice Shop</a:t>
            </a:r>
            <a:endParaRPr lang="en-US" sz="1100" dirty="0"/>
          </a:p>
        </p:txBody>
      </p:sp>
      <p:sp>
        <p:nvSpPr>
          <p:cNvPr id="4" name="Text 2"/>
          <p:cNvSpPr/>
          <p:nvPr/>
        </p:nvSpPr>
        <p:spPr>
          <a:xfrm>
            <a:off x="10789920" y="0"/>
            <a:ext cx="914400" cy="457200"/>
          </a:xfrm>
          <a:prstGeom prst="rect">
            <a:avLst/>
          </a:prstGeom>
          <a:noFill/>
          <a:ln/>
        </p:spPr>
        <p:txBody>
          <a:bodyPr wrap="square" lIns="0" tIns="0" rIns="0" bIns="0" rtlCol="0" anchor="ctr"/>
          <a:lstStyle/>
          <a:p>
            <a:pPr marL="0" indent="0" algn="r">
              <a:buNone/>
            </a:pPr>
            <a:r>
              <a:rPr lang="en-US" sz="1100" dirty="0">
                <a:solidFill>
                  <a:srgbClr val="FFFFFF"/>
                </a:solidFill>
                <a:latin typeface="Calibri" pitchFamily="34" charset="0"/>
                <a:ea typeface="Calibri" pitchFamily="34" charset="-122"/>
                <a:cs typeface="Calibri" pitchFamily="34" charset="-120"/>
              </a:rPr>
              <a:t>4 / 4</a:t>
            </a:r>
            <a:endParaRPr lang="en-US" sz="1100" dirty="0"/>
          </a:p>
        </p:txBody>
      </p:sp>
      <p:sp>
        <p:nvSpPr>
          <p:cNvPr id="5" name="Text 3"/>
          <p:cNvSpPr/>
          <p:nvPr/>
        </p:nvSpPr>
        <p:spPr>
          <a:xfrm>
            <a:off x="457200" y="6537960"/>
            <a:ext cx="11247120" cy="274320"/>
          </a:xfrm>
          <a:prstGeom prst="rect">
            <a:avLst/>
          </a:prstGeom>
          <a:noFill/>
          <a:ln/>
        </p:spPr>
        <p:txBody>
          <a:bodyPr wrap="square" lIns="0" tIns="0" rIns="0" bIns="0" rtlCol="0" anchor="ctr"/>
          <a:lstStyle/>
          <a:p>
            <a:pPr marL="0" indent="0" algn="ctr">
              <a:buNone/>
            </a:pPr>
            <a:r>
              <a:rPr lang="en-US" sz="900" dirty="0">
                <a:solidFill>
                  <a:srgbClr val="595959"/>
                </a:solidFill>
                <a:latin typeface="Calibri" pitchFamily="34" charset="0"/>
                <a:ea typeface="Calibri" pitchFamily="34" charset="-122"/>
                <a:cs typeface="Calibri" pitchFamily="34" charset="-120"/>
              </a:rPr>
              <a:t>SI3006 — </a:t>
            </a:r>
            <a:r>
              <a:rPr lang="en-US" sz="900" dirty="0" err="1">
                <a:solidFill>
                  <a:srgbClr val="595959"/>
                </a:solidFill>
                <a:latin typeface="Calibri" pitchFamily="34" charset="0"/>
                <a:ea typeface="Calibri" pitchFamily="34" charset="-122"/>
                <a:cs typeface="Calibri" pitchFamily="34" charset="-120"/>
              </a:rPr>
              <a:t>Ciberseguridad</a:t>
            </a:r>
            <a:r>
              <a:rPr lang="en-US" sz="900" dirty="0">
                <a:solidFill>
                  <a:srgbClr val="595959"/>
                </a:solidFill>
                <a:latin typeface="Calibri" pitchFamily="34" charset="0"/>
                <a:ea typeface="Calibri" pitchFamily="34" charset="-122"/>
                <a:cs typeface="Calibri" pitchFamily="34" charset="-120"/>
              </a:rPr>
              <a:t>· Universidad EAFIT · Mayo 2026 – </a:t>
            </a:r>
            <a:r>
              <a:rPr lang="en-US" sz="900" dirty="0" err="1">
                <a:solidFill>
                  <a:srgbClr val="595959"/>
                </a:solidFill>
                <a:latin typeface="Calibri" pitchFamily="34" charset="0"/>
                <a:ea typeface="Calibri" pitchFamily="34" charset="-122"/>
                <a:cs typeface="Calibri" pitchFamily="34" charset="-120"/>
              </a:rPr>
              <a:t>Karmaland</a:t>
            </a:r>
            <a:r>
              <a:rPr lang="en-US" sz="900" dirty="0">
                <a:solidFill>
                  <a:srgbClr val="595959"/>
                </a:solidFill>
                <a:latin typeface="Calibri" pitchFamily="34" charset="0"/>
                <a:ea typeface="Calibri" pitchFamily="34" charset="-122"/>
                <a:cs typeface="Calibri" pitchFamily="34" charset="-120"/>
              </a:rPr>
              <a:t> </a:t>
            </a:r>
            <a:endParaRPr lang="en-US" sz="900" dirty="0"/>
          </a:p>
        </p:txBody>
      </p:sp>
      <p:sp>
        <p:nvSpPr>
          <p:cNvPr id="6" name="Text 4"/>
          <p:cNvSpPr/>
          <p:nvPr/>
        </p:nvSpPr>
        <p:spPr>
          <a:xfrm>
            <a:off x="457200" y="640080"/>
            <a:ext cx="11247120" cy="548640"/>
          </a:xfrm>
          <a:prstGeom prst="rect">
            <a:avLst/>
          </a:prstGeom>
          <a:noFill/>
          <a:ln/>
        </p:spPr>
        <p:txBody>
          <a:bodyPr wrap="square" lIns="0" tIns="0" rIns="0" bIns="0" rtlCol="0" anchor="ctr"/>
          <a:lstStyle/>
          <a:p>
            <a:pPr marL="0" indent="0" algn="l">
              <a:buNone/>
            </a:pPr>
            <a:r>
              <a:rPr lang="en-US" sz="2800" b="1" dirty="0">
                <a:solidFill>
                  <a:srgbClr val="1F1F1F"/>
                </a:solidFill>
                <a:latin typeface="Calibri" pitchFamily="34" charset="0"/>
                <a:ea typeface="Calibri" pitchFamily="34" charset="-122"/>
                <a:cs typeface="Calibri" pitchFamily="34" charset="-120"/>
              </a:rPr>
              <a:t>Impacto y Recomendaciones</a:t>
            </a:r>
            <a:endParaRPr lang="en-US" sz="2800" dirty="0"/>
          </a:p>
        </p:txBody>
      </p:sp>
      <p:sp>
        <p:nvSpPr>
          <p:cNvPr id="7" name="Shape 5"/>
          <p:cNvSpPr/>
          <p:nvPr/>
        </p:nvSpPr>
        <p:spPr>
          <a:xfrm>
            <a:off x="457200" y="1188720"/>
            <a:ext cx="11247120" cy="0"/>
          </a:xfrm>
          <a:prstGeom prst="line">
            <a:avLst/>
          </a:prstGeom>
          <a:noFill/>
          <a:ln w="9525">
            <a:solidFill>
              <a:srgbClr val="BFBFBF"/>
            </a:solidFill>
            <a:prstDash val="solid"/>
          </a:ln>
        </p:spPr>
      </p:sp>
      <p:sp>
        <p:nvSpPr>
          <p:cNvPr id="8" name="Text 6"/>
          <p:cNvSpPr/>
          <p:nvPr/>
        </p:nvSpPr>
        <p:spPr>
          <a:xfrm>
            <a:off x="457200" y="1417320"/>
            <a:ext cx="5486400" cy="320040"/>
          </a:xfrm>
          <a:prstGeom prst="rect">
            <a:avLst/>
          </a:prstGeom>
          <a:noFill/>
          <a:ln/>
        </p:spPr>
        <p:txBody>
          <a:bodyPr wrap="square" lIns="0" tIns="0" rIns="0" bIns="0" rtlCol="0" anchor="ctr"/>
          <a:lstStyle/>
          <a:p>
            <a:pPr marL="0" indent="0">
              <a:buNone/>
            </a:pPr>
            <a:r>
              <a:rPr lang="en-US" sz="1500" b="1" dirty="0">
                <a:solidFill>
                  <a:srgbClr val="1F1F1F"/>
                </a:solidFill>
                <a:latin typeface="Calibri" pitchFamily="34" charset="0"/>
                <a:ea typeface="Calibri" pitchFamily="34" charset="-122"/>
                <a:cs typeface="Calibri" pitchFamily="34" charset="-120"/>
              </a:rPr>
              <a:t>Impacto sobre la organización</a:t>
            </a:r>
            <a:endParaRPr lang="en-US" sz="1500" dirty="0"/>
          </a:p>
        </p:txBody>
      </p:sp>
      <p:sp>
        <p:nvSpPr>
          <p:cNvPr id="9" name="Shape 7"/>
          <p:cNvSpPr/>
          <p:nvPr/>
        </p:nvSpPr>
        <p:spPr>
          <a:xfrm>
            <a:off x="457200" y="1783080"/>
            <a:ext cx="640080" cy="640080"/>
          </a:xfrm>
          <a:prstGeom prst="rect">
            <a:avLst/>
          </a:prstGeom>
          <a:solidFill>
            <a:srgbClr val="262626"/>
          </a:solidFill>
          <a:ln w="12700">
            <a:solidFill>
              <a:srgbClr val="262626"/>
            </a:solidFill>
            <a:prstDash val="solid"/>
          </a:ln>
        </p:spPr>
      </p:sp>
      <p:sp>
        <p:nvSpPr>
          <p:cNvPr id="10" name="Text 8"/>
          <p:cNvSpPr/>
          <p:nvPr/>
        </p:nvSpPr>
        <p:spPr>
          <a:xfrm>
            <a:off x="457200" y="178308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C</a:t>
            </a:r>
            <a:endParaRPr lang="en-US" sz="2400" dirty="0"/>
          </a:p>
        </p:txBody>
      </p:sp>
      <p:sp>
        <p:nvSpPr>
          <p:cNvPr id="11" name="Text 9"/>
          <p:cNvSpPr/>
          <p:nvPr/>
        </p:nvSpPr>
        <p:spPr>
          <a:xfrm>
            <a:off x="1280160" y="1783080"/>
            <a:ext cx="4663440" cy="274320"/>
          </a:xfrm>
          <a:prstGeom prst="rect">
            <a:avLst/>
          </a:prstGeom>
          <a:noFill/>
          <a:ln/>
        </p:spPr>
        <p:txBody>
          <a:bodyPr wrap="square" lIns="0" tIns="0" rIns="0" bIns="0" rtlCol="0" anchor="ctr"/>
          <a:lstStyle/>
          <a:p>
            <a:pPr marL="0" indent="0">
              <a:buNone/>
            </a:pPr>
            <a:r>
              <a:rPr lang="en-US" sz="1300" b="1" dirty="0">
                <a:solidFill>
                  <a:srgbClr val="1F1F1F"/>
                </a:solidFill>
                <a:latin typeface="Calibri" pitchFamily="34" charset="0"/>
                <a:ea typeface="Calibri" pitchFamily="34" charset="-122"/>
                <a:cs typeface="Calibri" pitchFamily="34" charset="-120"/>
              </a:rPr>
              <a:t>Confidencialidad</a:t>
            </a:r>
            <a:endParaRPr lang="en-US" sz="1300" dirty="0"/>
          </a:p>
        </p:txBody>
      </p:sp>
      <p:sp>
        <p:nvSpPr>
          <p:cNvPr id="12" name="Text 10"/>
          <p:cNvSpPr/>
          <p:nvPr/>
        </p:nvSpPr>
        <p:spPr>
          <a:xfrm>
            <a:off x="1280160" y="2029968"/>
            <a:ext cx="4663440" cy="502920"/>
          </a:xfrm>
          <a:prstGeom prst="rect">
            <a:avLst/>
          </a:prstGeom>
          <a:noFill/>
          <a:ln/>
        </p:spPr>
        <p:txBody>
          <a:bodyPr wrap="square" lIns="0" tIns="0" rIns="0" bIns="0" rtlCol="0" anchor="t"/>
          <a:lstStyle/>
          <a:p>
            <a:pPr marL="0" indent="0">
              <a:buNone/>
            </a:pPr>
            <a:r>
              <a:rPr lang="en-US" sz="1100" dirty="0">
                <a:solidFill>
                  <a:srgbClr val="595959"/>
                </a:solidFill>
                <a:latin typeface="Calibri" pitchFamily="34" charset="0"/>
                <a:ea typeface="Calibri" pitchFamily="34" charset="-122"/>
                <a:cs typeface="Calibri" pitchFamily="34" charset="-120"/>
              </a:rPr>
              <a:t>Acceso a la lista completa de usuarios, pedidos y mensajes desde el panel administrativo.</a:t>
            </a:r>
            <a:endParaRPr lang="en-US" sz="1100" dirty="0"/>
          </a:p>
        </p:txBody>
      </p:sp>
      <p:sp>
        <p:nvSpPr>
          <p:cNvPr id="13" name="Shape 11"/>
          <p:cNvSpPr/>
          <p:nvPr/>
        </p:nvSpPr>
        <p:spPr>
          <a:xfrm>
            <a:off x="457200" y="2697480"/>
            <a:ext cx="640080" cy="640080"/>
          </a:xfrm>
          <a:prstGeom prst="rect">
            <a:avLst/>
          </a:prstGeom>
          <a:solidFill>
            <a:srgbClr val="262626"/>
          </a:solidFill>
          <a:ln w="12700">
            <a:solidFill>
              <a:srgbClr val="262626"/>
            </a:solidFill>
            <a:prstDash val="solid"/>
          </a:ln>
        </p:spPr>
      </p:sp>
      <p:sp>
        <p:nvSpPr>
          <p:cNvPr id="14" name="Text 12"/>
          <p:cNvSpPr/>
          <p:nvPr/>
        </p:nvSpPr>
        <p:spPr>
          <a:xfrm>
            <a:off x="457200" y="269748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I</a:t>
            </a:r>
            <a:endParaRPr lang="en-US" sz="2400" dirty="0"/>
          </a:p>
        </p:txBody>
      </p:sp>
      <p:sp>
        <p:nvSpPr>
          <p:cNvPr id="15" name="Text 13"/>
          <p:cNvSpPr/>
          <p:nvPr/>
        </p:nvSpPr>
        <p:spPr>
          <a:xfrm>
            <a:off x="1280160" y="2697480"/>
            <a:ext cx="4663440" cy="274320"/>
          </a:xfrm>
          <a:prstGeom prst="rect">
            <a:avLst/>
          </a:prstGeom>
          <a:noFill/>
          <a:ln/>
        </p:spPr>
        <p:txBody>
          <a:bodyPr wrap="square" lIns="0" tIns="0" rIns="0" bIns="0" rtlCol="0" anchor="ctr"/>
          <a:lstStyle/>
          <a:p>
            <a:pPr marL="0" indent="0">
              <a:buNone/>
            </a:pPr>
            <a:r>
              <a:rPr lang="en-US" sz="1300" b="1" dirty="0">
                <a:solidFill>
                  <a:srgbClr val="1F1F1F"/>
                </a:solidFill>
                <a:latin typeface="Calibri" pitchFamily="34" charset="0"/>
                <a:ea typeface="Calibri" pitchFamily="34" charset="-122"/>
                <a:cs typeface="Calibri" pitchFamily="34" charset="-120"/>
              </a:rPr>
              <a:t>Integridad</a:t>
            </a:r>
            <a:endParaRPr lang="en-US" sz="1300" dirty="0"/>
          </a:p>
        </p:txBody>
      </p:sp>
      <p:sp>
        <p:nvSpPr>
          <p:cNvPr id="16" name="Text 14"/>
          <p:cNvSpPr/>
          <p:nvPr/>
        </p:nvSpPr>
        <p:spPr>
          <a:xfrm>
            <a:off x="1280160" y="2944368"/>
            <a:ext cx="4663440" cy="502920"/>
          </a:xfrm>
          <a:prstGeom prst="rect">
            <a:avLst/>
          </a:prstGeom>
          <a:noFill/>
          <a:ln/>
        </p:spPr>
        <p:txBody>
          <a:bodyPr wrap="square" lIns="0" tIns="0" rIns="0" bIns="0" rtlCol="0" anchor="t"/>
          <a:lstStyle/>
          <a:p>
            <a:pPr marL="0" indent="0">
              <a:buNone/>
            </a:pPr>
            <a:r>
              <a:rPr lang="en-US" sz="1100" dirty="0">
                <a:solidFill>
                  <a:srgbClr val="595959"/>
                </a:solidFill>
                <a:latin typeface="Calibri" pitchFamily="34" charset="0"/>
                <a:ea typeface="Calibri" pitchFamily="34" charset="-122"/>
                <a:cs typeface="Calibri" pitchFamily="34" charset="-120"/>
              </a:rPr>
              <a:t>Posibilidad de modificar pedidos, alterar precios y borrar reseñas con privilegios de administrador.</a:t>
            </a:r>
            <a:endParaRPr lang="en-US" sz="1100" dirty="0"/>
          </a:p>
        </p:txBody>
      </p:sp>
      <p:sp>
        <p:nvSpPr>
          <p:cNvPr id="17" name="Shape 15"/>
          <p:cNvSpPr/>
          <p:nvPr/>
        </p:nvSpPr>
        <p:spPr>
          <a:xfrm>
            <a:off x="457200" y="3611880"/>
            <a:ext cx="640080" cy="640080"/>
          </a:xfrm>
          <a:prstGeom prst="rect">
            <a:avLst/>
          </a:prstGeom>
          <a:solidFill>
            <a:srgbClr val="262626"/>
          </a:solidFill>
          <a:ln w="12700">
            <a:solidFill>
              <a:srgbClr val="262626"/>
            </a:solidFill>
            <a:prstDash val="solid"/>
          </a:ln>
        </p:spPr>
      </p:sp>
      <p:sp>
        <p:nvSpPr>
          <p:cNvPr id="18" name="Text 16"/>
          <p:cNvSpPr/>
          <p:nvPr/>
        </p:nvSpPr>
        <p:spPr>
          <a:xfrm>
            <a:off x="457200" y="361188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A</a:t>
            </a:r>
            <a:endParaRPr lang="en-US" sz="2400" dirty="0"/>
          </a:p>
        </p:txBody>
      </p:sp>
      <p:sp>
        <p:nvSpPr>
          <p:cNvPr id="19" name="Text 17"/>
          <p:cNvSpPr/>
          <p:nvPr/>
        </p:nvSpPr>
        <p:spPr>
          <a:xfrm>
            <a:off x="1280160" y="3611880"/>
            <a:ext cx="4663440" cy="274320"/>
          </a:xfrm>
          <a:prstGeom prst="rect">
            <a:avLst/>
          </a:prstGeom>
          <a:noFill/>
          <a:ln/>
        </p:spPr>
        <p:txBody>
          <a:bodyPr wrap="square" lIns="0" tIns="0" rIns="0" bIns="0" rtlCol="0" anchor="ctr"/>
          <a:lstStyle/>
          <a:p>
            <a:pPr marL="0" indent="0">
              <a:buNone/>
            </a:pPr>
            <a:r>
              <a:rPr lang="en-US" sz="1300" b="1" dirty="0">
                <a:solidFill>
                  <a:srgbClr val="1F1F1F"/>
                </a:solidFill>
                <a:latin typeface="Calibri" pitchFamily="34" charset="0"/>
                <a:ea typeface="Calibri" pitchFamily="34" charset="-122"/>
                <a:cs typeface="Calibri" pitchFamily="34" charset="-120"/>
              </a:rPr>
              <a:t>Disponibilidad</a:t>
            </a:r>
            <a:endParaRPr lang="en-US" sz="1300" dirty="0"/>
          </a:p>
        </p:txBody>
      </p:sp>
      <p:sp>
        <p:nvSpPr>
          <p:cNvPr id="20" name="Text 18"/>
          <p:cNvSpPr/>
          <p:nvPr/>
        </p:nvSpPr>
        <p:spPr>
          <a:xfrm>
            <a:off x="1280160" y="3858768"/>
            <a:ext cx="4663440" cy="502920"/>
          </a:xfrm>
          <a:prstGeom prst="rect">
            <a:avLst/>
          </a:prstGeom>
          <a:noFill/>
          <a:ln/>
        </p:spPr>
        <p:txBody>
          <a:bodyPr wrap="square" lIns="0" tIns="0" rIns="0" bIns="0" rtlCol="0" anchor="t"/>
          <a:lstStyle/>
          <a:p>
            <a:pPr marL="0" indent="0">
              <a:buNone/>
            </a:pPr>
            <a:r>
              <a:rPr lang="en-US" sz="1100" dirty="0">
                <a:solidFill>
                  <a:srgbClr val="595959"/>
                </a:solidFill>
                <a:latin typeface="Calibri" pitchFamily="34" charset="0"/>
                <a:ea typeface="Calibri" pitchFamily="34" charset="-122"/>
                <a:cs typeface="Calibri" pitchFamily="34" charset="-120"/>
              </a:rPr>
              <a:t>Operaciones masivas sobre la base de datos y eliminación de usuarios desde la cuenta privilegiada.</a:t>
            </a:r>
            <a:endParaRPr lang="en-US" sz="1100" dirty="0"/>
          </a:p>
        </p:txBody>
      </p:sp>
      <p:sp>
        <p:nvSpPr>
          <p:cNvPr id="21" name="Shape 19"/>
          <p:cNvSpPr/>
          <p:nvPr/>
        </p:nvSpPr>
        <p:spPr>
          <a:xfrm>
            <a:off x="457200" y="4526280"/>
            <a:ext cx="5486400" cy="1417320"/>
          </a:xfrm>
          <a:prstGeom prst="rect">
            <a:avLst/>
          </a:prstGeom>
          <a:solidFill>
            <a:srgbClr val="F2F2F2"/>
          </a:solidFill>
          <a:ln w="6350">
            <a:solidFill>
              <a:srgbClr val="BFBFBF"/>
            </a:solidFill>
            <a:prstDash val="solid"/>
          </a:ln>
        </p:spPr>
      </p:sp>
      <p:sp>
        <p:nvSpPr>
          <p:cNvPr id="22" name="Text 20"/>
          <p:cNvSpPr/>
          <p:nvPr/>
        </p:nvSpPr>
        <p:spPr>
          <a:xfrm>
            <a:off x="640080" y="4617720"/>
            <a:ext cx="5303520" cy="274320"/>
          </a:xfrm>
          <a:prstGeom prst="rect">
            <a:avLst/>
          </a:prstGeom>
          <a:noFill/>
          <a:ln/>
        </p:spPr>
        <p:txBody>
          <a:bodyPr wrap="square" lIns="0" tIns="0" rIns="0" bIns="0" rtlCol="0" anchor="ctr"/>
          <a:lstStyle/>
          <a:p>
            <a:pPr marL="0" indent="0">
              <a:buNone/>
            </a:pPr>
            <a:r>
              <a:rPr lang="en-US" sz="1200" b="1" kern="0" spc="300" dirty="0">
                <a:solidFill>
                  <a:srgbClr val="595959"/>
                </a:solidFill>
                <a:latin typeface="Calibri" pitchFamily="34" charset="0"/>
                <a:ea typeface="Calibri" pitchFamily="34" charset="-122"/>
                <a:cs typeface="Calibri" pitchFamily="34" charset="-120"/>
              </a:rPr>
              <a:t>Riesgo de negocio</a:t>
            </a:r>
            <a:endParaRPr lang="en-US" sz="1200" dirty="0"/>
          </a:p>
        </p:txBody>
      </p:sp>
      <p:sp>
        <p:nvSpPr>
          <p:cNvPr id="23" name="Text 21"/>
          <p:cNvSpPr/>
          <p:nvPr/>
        </p:nvSpPr>
        <p:spPr>
          <a:xfrm>
            <a:off x="640080" y="4937760"/>
            <a:ext cx="5303520" cy="960120"/>
          </a:xfrm>
          <a:prstGeom prst="rect">
            <a:avLst/>
          </a:prstGeom>
          <a:noFill/>
          <a:ln/>
        </p:spPr>
        <p:txBody>
          <a:bodyPr wrap="square" lIns="0" tIns="0" rIns="0" bIns="0" rtlCol="0" anchor="t"/>
          <a:lstStyle/>
          <a:p>
            <a:pPr marL="0" indent="0" algn="just">
              <a:buNone/>
            </a:pPr>
            <a:r>
              <a:rPr lang="en-US" sz="1200" dirty="0">
                <a:solidFill>
                  <a:srgbClr val="1F1F1F"/>
                </a:solidFill>
                <a:latin typeface="Calibri" pitchFamily="34" charset="0"/>
                <a:ea typeface="Calibri" pitchFamily="34" charset="-122"/>
                <a:cs typeface="Calibri" pitchFamily="34" charset="-120"/>
              </a:rPr>
              <a:t>Pérdida de trazabilidad forense, exposición regulatoria (Ley 1581 / GDPR) y daño reputacional. La cuenta legítima del administrador queda como autora aparente de las acciones del atacante.</a:t>
            </a:r>
            <a:endParaRPr lang="en-US" sz="1200" dirty="0"/>
          </a:p>
        </p:txBody>
      </p:sp>
      <p:sp>
        <p:nvSpPr>
          <p:cNvPr id="24" name="Text 22"/>
          <p:cNvSpPr/>
          <p:nvPr/>
        </p:nvSpPr>
        <p:spPr>
          <a:xfrm>
            <a:off x="6309360" y="1417320"/>
            <a:ext cx="5486400" cy="320040"/>
          </a:xfrm>
          <a:prstGeom prst="rect">
            <a:avLst/>
          </a:prstGeom>
          <a:noFill/>
          <a:ln/>
        </p:spPr>
        <p:txBody>
          <a:bodyPr wrap="square" lIns="0" tIns="0" rIns="0" bIns="0" rtlCol="0" anchor="ctr"/>
          <a:lstStyle/>
          <a:p>
            <a:pPr marL="0" indent="0">
              <a:buNone/>
            </a:pPr>
            <a:r>
              <a:rPr lang="en-US" sz="1500" b="1" dirty="0">
                <a:solidFill>
                  <a:srgbClr val="1F1F1F"/>
                </a:solidFill>
                <a:latin typeface="Calibri" pitchFamily="34" charset="0"/>
                <a:ea typeface="Calibri" pitchFamily="34" charset="-122"/>
                <a:cs typeface="Calibri" pitchFamily="34" charset="-120"/>
              </a:rPr>
              <a:t>Recomendaciones de remediación</a:t>
            </a:r>
            <a:endParaRPr lang="en-US" sz="1500" dirty="0"/>
          </a:p>
        </p:txBody>
      </p:sp>
      <p:sp>
        <p:nvSpPr>
          <p:cNvPr id="25" name="Text 23"/>
          <p:cNvSpPr/>
          <p:nvPr/>
        </p:nvSpPr>
        <p:spPr>
          <a:xfrm>
            <a:off x="6309360" y="1783080"/>
            <a:ext cx="5486400" cy="4206240"/>
          </a:xfrm>
          <a:prstGeom prst="rect">
            <a:avLst/>
          </a:prstGeom>
          <a:noFill/>
          <a:ln/>
        </p:spPr>
        <p:txBody>
          <a:bodyPr wrap="square" lIns="0" tIns="0" rIns="0" bIns="0" rtlCol="0" anchor="t"/>
          <a:lstStyle/>
          <a:p>
            <a:pPr marL="0" indent="0">
              <a:spcAft>
                <a:spcPts val="200"/>
              </a:spcAft>
              <a:buNone/>
            </a:pPr>
            <a:r>
              <a:rPr lang="en-US" sz="1200" b="1" dirty="0">
                <a:solidFill>
                  <a:srgbClr val="8B0000"/>
                </a:solidFill>
                <a:latin typeface="Calibri" pitchFamily="34" charset="0"/>
                <a:ea typeface="Calibri" pitchFamily="34" charset="-122"/>
                <a:cs typeface="Calibri" pitchFamily="34" charset="-120"/>
              </a:rPr>
              <a:t>Inmediata:</a:t>
            </a:r>
            <a:endParaRPr lang="en-US" sz="1200" dirty="0"/>
          </a:p>
          <a:p>
            <a:pPr marL="0" indent="0">
              <a:spcAft>
                <a:spcPts val="200"/>
              </a:spcAft>
              <a:buNone/>
            </a:pPr>
            <a:r>
              <a:rPr lang="en-US" sz="1200" dirty="0">
                <a:solidFill>
                  <a:srgbClr val="1F1F1F"/>
                </a:solidFill>
                <a:latin typeface="Calibri" pitchFamily="34" charset="0"/>
                <a:ea typeface="Calibri" pitchFamily="34" charset="-122"/>
                <a:cs typeface="Calibri" pitchFamily="34" charset="-120"/>
              </a:rPr>
              <a:t>Reemplazar la concatenación por consultas parametrizadas con bind variables del ORM Sequelize.</a:t>
            </a:r>
            <a:endParaRPr lang="en-US" sz="1200" dirty="0"/>
          </a:p>
          <a:p>
            <a:pPr marL="0" indent="0">
              <a:spcAft>
                <a:spcPts val="200"/>
              </a:spcAft>
              <a:buNone/>
            </a:pPr>
            <a:endParaRPr lang="en-US" sz="1200" dirty="0"/>
          </a:p>
          <a:p>
            <a:pPr marL="0" indent="0">
              <a:spcAft>
                <a:spcPts val="200"/>
              </a:spcAft>
              <a:buNone/>
            </a:pPr>
            <a:r>
              <a:rPr lang="en-US" sz="1200" b="1" dirty="0">
                <a:solidFill>
                  <a:srgbClr val="1F1F1F"/>
                </a:solidFill>
                <a:latin typeface="Calibri" pitchFamily="34" charset="0"/>
                <a:ea typeface="Calibri" pitchFamily="34" charset="-122"/>
                <a:cs typeface="Calibri" pitchFamily="34" charset="-120"/>
              </a:rPr>
              <a:t>Defensa en profundidad:</a:t>
            </a:r>
            <a:endParaRPr lang="en-US" sz="1200" dirty="0"/>
          </a:p>
          <a:p>
            <a:pPr marL="0" indent="0">
              <a:spcAft>
                <a:spcPts val="200"/>
              </a:spcAft>
              <a:buNone/>
            </a:pPr>
            <a:r>
              <a:rPr lang="en-US" sz="1200" dirty="0">
                <a:solidFill>
                  <a:srgbClr val="1F1F1F"/>
                </a:solidFill>
                <a:latin typeface="Calibri" pitchFamily="34" charset="0"/>
                <a:ea typeface="Calibri" pitchFamily="34" charset="-122"/>
                <a:cs typeface="Calibri" pitchFamily="34" charset="-120"/>
              </a:rPr>
              <a:t>• Validación estricta del formato del email antes de la consulta.</a:t>
            </a:r>
            <a:endParaRPr lang="en-US" sz="1200" dirty="0"/>
          </a:p>
          <a:p>
            <a:pPr marL="0" indent="0">
              <a:spcAft>
                <a:spcPts val="200"/>
              </a:spcAft>
              <a:buNone/>
            </a:pPr>
            <a:r>
              <a:rPr lang="en-US" sz="1200" dirty="0">
                <a:solidFill>
                  <a:srgbClr val="1F1F1F"/>
                </a:solidFill>
                <a:latin typeface="Calibri" pitchFamily="34" charset="0"/>
                <a:ea typeface="Calibri" pitchFamily="34" charset="-122"/>
                <a:cs typeface="Calibri" pitchFamily="34" charset="-120"/>
              </a:rPr>
              <a:t>• Principio de menor privilegio en la cuenta de la base de datos.</a:t>
            </a:r>
            <a:endParaRPr lang="en-US" sz="1200" dirty="0"/>
          </a:p>
          <a:p>
            <a:pPr marL="0" indent="0">
              <a:spcAft>
                <a:spcPts val="200"/>
              </a:spcAft>
              <a:buNone/>
            </a:pPr>
            <a:r>
              <a:rPr lang="en-US" sz="1200" dirty="0">
                <a:solidFill>
                  <a:srgbClr val="1F1F1F"/>
                </a:solidFill>
                <a:latin typeface="Calibri" pitchFamily="34" charset="0"/>
                <a:ea typeface="Calibri" pitchFamily="34" charset="-122"/>
                <a:cs typeface="Calibri" pitchFamily="34" charset="-120"/>
              </a:rPr>
              <a:t>• Web Application Firewall (AWS WAF / Cloudflare).</a:t>
            </a:r>
            <a:endParaRPr lang="en-US" sz="1200" dirty="0"/>
          </a:p>
          <a:p>
            <a:pPr marL="0" indent="0">
              <a:spcAft>
                <a:spcPts val="200"/>
              </a:spcAft>
              <a:buNone/>
            </a:pPr>
            <a:r>
              <a:rPr lang="en-US" sz="1200" dirty="0">
                <a:solidFill>
                  <a:srgbClr val="1F1F1F"/>
                </a:solidFill>
                <a:latin typeface="Calibri" pitchFamily="34" charset="0"/>
                <a:ea typeface="Calibri" pitchFamily="34" charset="-122"/>
                <a:cs typeface="Calibri" pitchFamily="34" charset="-120"/>
              </a:rPr>
              <a:t>• Logging y alertas sobre patrones sospechosos en login.</a:t>
            </a:r>
            <a:endParaRPr lang="en-US" sz="1200" dirty="0"/>
          </a:p>
          <a:p>
            <a:pPr marL="0" indent="0">
              <a:spcAft>
                <a:spcPts val="200"/>
              </a:spcAft>
              <a:buNone/>
            </a:pPr>
            <a:r>
              <a:rPr lang="en-US" sz="1200" dirty="0">
                <a:solidFill>
                  <a:srgbClr val="1F1F1F"/>
                </a:solidFill>
                <a:latin typeface="Calibri" pitchFamily="34" charset="0"/>
                <a:ea typeface="Calibri" pitchFamily="34" charset="-122"/>
                <a:cs typeface="Calibri" pitchFamily="34" charset="-120"/>
              </a:rPr>
              <a:t>• SAST integrado al pipeline CI/CD (Semgrep, SonarQube).</a:t>
            </a:r>
            <a:endParaRPr lang="en-US" sz="1200" dirty="0"/>
          </a:p>
          <a:p>
            <a:pPr marL="0" indent="0">
              <a:spcAft>
                <a:spcPts val="200"/>
              </a:spcAft>
              <a:buNone/>
            </a:pPr>
            <a:endParaRPr lang="en-US" sz="1200" dirty="0"/>
          </a:p>
          <a:p>
            <a:pPr marL="0" indent="0">
              <a:spcAft>
                <a:spcPts val="200"/>
              </a:spcAft>
              <a:buNone/>
            </a:pPr>
            <a:r>
              <a:rPr lang="en-US" sz="1200" b="1" dirty="0">
                <a:solidFill>
                  <a:srgbClr val="1F1F1F"/>
                </a:solidFill>
                <a:latin typeface="Calibri" pitchFamily="34" charset="0"/>
                <a:ea typeface="Calibri" pitchFamily="34" charset="-122"/>
                <a:cs typeface="Calibri" pitchFamily="34" charset="-120"/>
              </a:rPr>
              <a:t>Política y cumplimiento:</a:t>
            </a:r>
            <a:endParaRPr lang="en-US" sz="1200" dirty="0"/>
          </a:p>
          <a:p>
            <a:pPr marL="0" indent="0">
              <a:spcAft>
                <a:spcPts val="200"/>
              </a:spcAft>
              <a:buNone/>
            </a:pPr>
            <a:r>
              <a:rPr lang="en-US" sz="1200" dirty="0">
                <a:solidFill>
                  <a:srgbClr val="1F1F1F"/>
                </a:solidFill>
                <a:latin typeface="Calibri" pitchFamily="34" charset="0"/>
                <a:ea typeface="Calibri" pitchFamily="34" charset="-122"/>
                <a:cs typeface="Calibri" pitchFamily="34" charset="-120"/>
              </a:rPr>
              <a:t>Mapeo con OWASP ASVS V5 (Validation, Sanitization and Encoding) e ISO/IEC 27001 control A.8.28 (Codificación segura).</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TotalTime>
  <Words>704</Words>
  <Application>Microsoft Office PowerPoint</Application>
  <PresentationFormat>Panorámica</PresentationFormat>
  <Paragraphs>92</Paragraphs>
  <Slides>4</Slides>
  <Notes>4</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4</vt:i4>
      </vt:variant>
    </vt:vector>
  </HeadingPairs>
  <TitlesOfParts>
    <vt:vector size="8" baseType="lpstr">
      <vt:lpstr>Arial</vt:lpstr>
      <vt:lpstr>Calibri</vt:lpstr>
      <vt:lpstr>Consolas</vt:lpstr>
      <vt:lpstr>Office Theme</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Reporte de Vulnerabilidad — OWASP Juice Shop</dc:title>
  <dc:subject>PptxGenJS Presentation</dc:subject>
  <dc:creator>Equipo SI3006 - EAFIT</dc:creator>
  <cp:lastModifiedBy>Jean Londoño</cp:lastModifiedBy>
  <cp:revision>5</cp:revision>
  <dcterms:created xsi:type="dcterms:W3CDTF">2026-05-04T23:31:22Z</dcterms:created>
  <dcterms:modified xsi:type="dcterms:W3CDTF">2026-05-05T01:39:18Z</dcterms:modified>
</cp:coreProperties>
</file>